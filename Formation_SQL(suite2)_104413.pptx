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Default Extension="wdp" ContentType="image/vnd.ms-photo"/>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9"/>
  </p:notesMasterIdLst>
  <p:sldIdLst>
    <p:sldId id="414" r:id="rId2"/>
    <p:sldId id="415" r:id="rId3"/>
    <p:sldId id="416" r:id="rId4"/>
    <p:sldId id="417" r:id="rId5"/>
    <p:sldId id="418" r:id="rId6"/>
    <p:sldId id="419" r:id="rId7"/>
    <p:sldId id="420"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53" autoAdjust="0"/>
    <p:restoredTop sz="94624" autoAdjust="0"/>
  </p:normalViewPr>
  <p:slideViewPr>
    <p:cSldViewPr snapToGrid="0">
      <p:cViewPr>
        <p:scale>
          <a:sx n="60" d="100"/>
          <a:sy n="60" d="100"/>
        </p:scale>
        <p:origin x="-1074" y="-28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43155B-2698-4E75-990E-43582F47F256}" type="datetimeFigureOut">
              <a:rPr lang="x-none" smtClean="0"/>
              <a:pPr/>
              <a:t>03/08/2021</a:t>
            </a:fld>
            <a:endParaRPr lang="x-none"/>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x-none"/>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A7646F-D579-441F-9534-C8C052878CA4}" type="slidenum">
              <a:rPr lang="x-none" smtClean="0"/>
              <a:pPr/>
              <a:t>‹N°›</a:t>
            </a:fld>
            <a:endParaRPr lang="x-none"/>
          </a:p>
        </p:txBody>
      </p:sp>
    </p:spTree>
    <p:extLst>
      <p:ext uri="{BB962C8B-B14F-4D97-AF65-F5344CB8AC3E}">
        <p14:creationId xmlns="" xmlns:p14="http://schemas.microsoft.com/office/powerpoint/2010/main" val="658488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cstate="print">
              <a:alphaModFix amt="85000"/>
              <a:lum bright="70000" contrast="-70000"/>
              <a:extLst>
                <a:ext uri="{BEBA8EAE-BF5A-486C-A8C5-ECC9F3942E4B}">
                  <a14:imgProps xmlns="" xmlns:a14="http://schemas.microsoft.com/office/drawing/2010/main">
                    <a14:imgLayer r:embed="rId3">
                      <a14:imgEffect>
                        <a14:sharpenSoften amount="61000"/>
                      </a14:imgEffect>
                    </a14:imgLayer>
                  </a14:imgProps>
                </a:ext>
                <a:ext uri="{28A0092B-C50C-407E-A947-70E740481C1C}">
                  <a14:useLocalDpi xmlns=""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cstate="print">
              <a:alphaModFix amt="85000"/>
              <a:lum bright="70000" contrast="-70000"/>
              <a:extLst>
                <a:ext uri="{BEBA8EAE-BF5A-486C-A8C5-ECC9F3942E4B}">
                  <a14:imgProps xmlns="" xmlns:a14="http://schemas.microsoft.com/office/drawing/2010/main">
                    <a14:imgLayer r:embed="rId3">
                      <a14:imgEffect>
                        <a14:sharpenSoften amount="61000"/>
                      </a14:imgEffect>
                    </a14:imgLayer>
                  </a14:imgProps>
                </a:ext>
                <a:ext uri="{28A0092B-C50C-407E-A947-70E740481C1C}">
                  <a14:useLocalDpi xmlns=""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cstate="print">
              <a:alphaModFix amt="85000"/>
              <a:lum bright="70000" contrast="-70000"/>
              <a:extLst>
                <a:ext uri="{BEBA8EAE-BF5A-486C-A8C5-ECC9F3942E4B}">
                  <a14:imgProps xmlns="" xmlns:a14="http://schemas.microsoft.com/office/drawing/2010/main">
                    <a14:imgLayer r:embed="rId3">
                      <a14:imgEffect>
                        <a14:sharpenSoften amount="61000"/>
                      </a14:imgEffect>
                    </a14:imgLayer>
                  </a14:imgProps>
                </a:ext>
                <a:ext uri="{28A0092B-C50C-407E-A947-70E740481C1C}">
                  <a14:useLocalDpi xmlns=""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cstate="print">
                <a:duotone>
                  <a:schemeClr val="accent1">
                    <a:shade val="45000"/>
                    <a:satMod val="135000"/>
                  </a:schemeClr>
                  <a:prstClr val="white"/>
                </a:duotone>
                <a:extLst>
                  <a:ext uri="{BEBA8EAE-BF5A-486C-A8C5-ECC9F3942E4B}">
                    <a14:imgProps xmln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fr-FR"/>
              <a:t>Modifiez le style du titre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645F9597-7059-47EE-95F2-CA44BC3CD0B9}" type="datetimeFigureOut">
              <a:rPr lang="fr-FR" smtClean="0"/>
              <a:pPr/>
              <a:t>03/08/2021</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74C99C63-A67C-4468-87A2-B4CF5B44918A}" type="slidenum">
              <a:rPr lang="fr-FR" smtClean="0"/>
              <a:pPr/>
              <a:t>‹N°›</a:t>
            </a:fld>
            <a:endParaRPr lang="fr-FR"/>
          </a:p>
        </p:txBody>
      </p:sp>
    </p:spTree>
    <p:extLst>
      <p:ext uri="{BB962C8B-B14F-4D97-AF65-F5344CB8AC3E}">
        <p14:creationId xmlns="" xmlns:p14="http://schemas.microsoft.com/office/powerpoint/2010/main" val="1359054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45F9597-7059-47EE-95F2-CA44BC3CD0B9}" type="datetimeFigureOut">
              <a:rPr lang="fr-FR" smtClean="0"/>
              <a:pPr/>
              <a:t>03/08/2021</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4C99C63-A67C-4468-87A2-B4CF5B44918A}" type="slidenum">
              <a:rPr lang="fr-FR" smtClean="0"/>
              <a:pPr/>
              <a:t>‹N°›</a:t>
            </a:fld>
            <a:endParaRPr lang="fr-FR"/>
          </a:p>
        </p:txBody>
      </p:sp>
    </p:spTree>
    <p:extLst>
      <p:ext uri="{BB962C8B-B14F-4D97-AF65-F5344CB8AC3E}">
        <p14:creationId xmlns="" xmlns:p14="http://schemas.microsoft.com/office/powerpoint/2010/main" val="2156471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cstate="print">
              <a:alphaModFix amt="85000"/>
              <a:lum bright="70000" contrast="-70000"/>
              <a:extLst>
                <a:ext uri="{BEBA8EAE-BF5A-486C-A8C5-ECC9F3942E4B}">
                  <a14:imgProps xmlns="" xmlns:a14="http://schemas.microsoft.com/office/drawing/2010/main">
                    <a14:imgLayer r:embed="rId3">
                      <a14:imgEffect>
                        <a14:sharpenSoften amount="61000"/>
                      </a14:imgEffect>
                    </a14:imgLayer>
                  </a14:imgProps>
                </a:ext>
                <a:ext uri="{28A0092B-C50C-407E-A947-70E740481C1C}">
                  <a14:useLocalDpi xmlns=""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fr-FR"/>
              <a:t>Modifiez le style du titre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a:xfrm>
            <a:off x="8593667" y="6272784"/>
            <a:ext cx="2644309" cy="365125"/>
          </a:xfrm>
        </p:spPr>
        <p:txBody>
          <a:bodyPr/>
          <a:lstStyle/>
          <a:p>
            <a:fld id="{645F9597-7059-47EE-95F2-CA44BC3CD0B9}" type="datetimeFigureOut">
              <a:rPr lang="fr-FR" smtClean="0"/>
              <a:pPr/>
              <a:t>03/08/2021</a:t>
            </a:fld>
            <a:endParaRPr lang="fr-FR"/>
          </a:p>
        </p:txBody>
      </p:sp>
      <p:sp>
        <p:nvSpPr>
          <p:cNvPr id="5" name="Footer Placeholder 4"/>
          <p:cNvSpPr>
            <a:spLocks noGrp="1"/>
          </p:cNvSpPr>
          <p:nvPr>
            <p:ph type="ftr" sz="quarter" idx="11"/>
          </p:nvPr>
        </p:nvSpPr>
        <p:spPr>
          <a:xfrm>
            <a:off x="2182708" y="6272784"/>
            <a:ext cx="6327648" cy="365125"/>
          </a:xfrm>
        </p:spPr>
        <p:txBody>
          <a:bodyPr/>
          <a:lstStyle/>
          <a:p>
            <a:endParaRPr lang="fr-FR"/>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cstate="print">
                <a:duotone>
                  <a:schemeClr val="accent1">
                    <a:shade val="45000"/>
                    <a:satMod val="135000"/>
                  </a:schemeClr>
                  <a:prstClr val="white"/>
                </a:duotone>
                <a:extLst>
                  <a:ext uri="{BEBA8EAE-BF5A-486C-A8C5-ECC9F3942E4B}">
                    <a14:imgProps xmln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74C99C63-A67C-4468-87A2-B4CF5B44918A}" type="slidenum">
              <a:rPr lang="fr-FR" smtClean="0"/>
              <a:pPr/>
              <a:t>‹N°›</a:t>
            </a:fld>
            <a:endParaRPr lang="fr-FR"/>
          </a:p>
        </p:txBody>
      </p:sp>
    </p:spTree>
    <p:extLst>
      <p:ext uri="{BB962C8B-B14F-4D97-AF65-F5344CB8AC3E}">
        <p14:creationId xmlns="" xmlns:p14="http://schemas.microsoft.com/office/powerpoint/2010/main" val="620427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645F9597-7059-47EE-95F2-CA44BC3CD0B9}" type="datetimeFigureOut">
              <a:rPr lang="fr-FR" smtClean="0"/>
              <a:pPr/>
              <a:t>03/08/2021</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74C99C63-A67C-4468-87A2-B4CF5B44918A}" type="slidenum">
              <a:rPr lang="fr-FR" smtClean="0"/>
              <a:pPr/>
              <a:t>‹N°›</a:t>
            </a:fld>
            <a:endParaRPr lang="fr-FR"/>
          </a:p>
        </p:txBody>
      </p:sp>
    </p:spTree>
    <p:extLst>
      <p:ext uri="{BB962C8B-B14F-4D97-AF65-F5344CB8AC3E}">
        <p14:creationId xmlns="" xmlns:p14="http://schemas.microsoft.com/office/powerpoint/2010/main" val="3404188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645F9597-7059-47EE-95F2-CA44BC3CD0B9}" type="datetimeFigureOut">
              <a:rPr lang="fr-FR" smtClean="0"/>
              <a:pPr/>
              <a:t>03/08/2021</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74C99C63-A67C-4468-87A2-B4CF5B44918A}" type="slidenum">
              <a:rPr lang="fr-FR" smtClean="0"/>
              <a:pPr/>
              <a:t>‹N°›</a:t>
            </a:fld>
            <a:endParaRPr lang="fr-FR"/>
          </a:p>
        </p:txBody>
      </p:sp>
    </p:spTree>
    <p:extLst>
      <p:ext uri="{BB962C8B-B14F-4D97-AF65-F5344CB8AC3E}">
        <p14:creationId xmlns="" xmlns:p14="http://schemas.microsoft.com/office/powerpoint/2010/main" val="3760828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645F9597-7059-47EE-95F2-CA44BC3CD0B9}" type="datetimeFigureOut">
              <a:rPr lang="fr-FR" smtClean="0"/>
              <a:pPr/>
              <a:t>03/08/2021</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74C99C63-A67C-4468-87A2-B4CF5B44918A}" type="slidenum">
              <a:rPr lang="fr-FR" smtClean="0"/>
              <a:pPr/>
              <a:t>‹N°›</a:t>
            </a:fld>
            <a:endParaRPr lang="fr-FR"/>
          </a:p>
        </p:txBody>
      </p:sp>
    </p:spTree>
    <p:extLst>
      <p:ext uri="{BB962C8B-B14F-4D97-AF65-F5344CB8AC3E}">
        <p14:creationId xmlns="" xmlns:p14="http://schemas.microsoft.com/office/powerpoint/2010/main" val="3677815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5F9597-7059-47EE-95F2-CA44BC3CD0B9}" type="datetimeFigureOut">
              <a:rPr lang="fr-FR" smtClean="0"/>
              <a:pPr/>
              <a:t>03/08/2021</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74C99C63-A67C-4468-87A2-B4CF5B44918A}" type="slidenum">
              <a:rPr lang="fr-FR" smtClean="0"/>
              <a:pPr/>
              <a:t>‹N°›</a:t>
            </a:fld>
            <a:endParaRPr lang="fr-FR"/>
          </a:p>
        </p:txBody>
      </p:sp>
    </p:spTree>
    <p:extLst>
      <p:ext uri="{BB962C8B-B14F-4D97-AF65-F5344CB8AC3E}">
        <p14:creationId xmlns="" xmlns:p14="http://schemas.microsoft.com/office/powerpoint/2010/main" val="2978408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cstate="print">
              <a:alphaModFix amt="60000"/>
              <a:lum bright="70000" contrast="-70000"/>
              <a:extLst>
                <a:ext uri="{BEBA8EAE-BF5A-486C-A8C5-ECC9F3942E4B}">
                  <a14:imgProps xmlns="" xmlns:a14="http://schemas.microsoft.com/office/drawing/2010/main">
                    <a14:imgLayer r:embed="rId3">
                      <a14:imgEffect>
                        <a14:sharpenSoften amount="61000"/>
                      </a14:imgEffect>
                    </a14:imgLayer>
                  </a14:imgProps>
                </a:ext>
                <a:ext uri="{28A0092B-C50C-407E-A947-70E740481C1C}">
                  <a14:useLocalDpi xmlns=""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fr-FR"/>
              <a:t>Modifiez le style du titre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645F9597-7059-47EE-95F2-CA44BC3CD0B9}" type="datetimeFigureOut">
              <a:rPr lang="fr-FR" smtClean="0"/>
              <a:pPr/>
              <a:t>03/08/2021</a:t>
            </a:fld>
            <a:endParaRPr lang="fr-FR"/>
          </a:p>
        </p:txBody>
      </p:sp>
      <p:sp>
        <p:nvSpPr>
          <p:cNvPr id="6" name="Footer Placeholder 5"/>
          <p:cNvSpPr>
            <a:spLocks noGrp="1"/>
          </p:cNvSpPr>
          <p:nvPr>
            <p:ph type="ftr" sz="quarter" idx="11"/>
          </p:nvPr>
        </p:nvSpPr>
        <p:spPr/>
        <p:txBody>
          <a:bodyPr/>
          <a:lstStyle/>
          <a:p>
            <a:endParaRPr lang="fr-FR"/>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cstate="print">
                <a:duotone>
                  <a:schemeClr val="accent1">
                    <a:shade val="45000"/>
                    <a:satMod val="135000"/>
                  </a:schemeClr>
                  <a:prstClr val="white"/>
                </a:duotone>
                <a:extLst>
                  <a:ext uri="{BEBA8EAE-BF5A-486C-A8C5-ECC9F3942E4B}">
                    <a14:imgProps xmln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74C99C63-A67C-4468-87A2-B4CF5B44918A}" type="slidenum">
              <a:rPr lang="fr-FR" smtClean="0"/>
              <a:pPr/>
              <a:t>‹N°›</a:t>
            </a:fld>
            <a:endParaRPr lang="fr-FR"/>
          </a:p>
        </p:txBody>
      </p:sp>
    </p:spTree>
    <p:extLst>
      <p:ext uri="{BB962C8B-B14F-4D97-AF65-F5344CB8AC3E}">
        <p14:creationId xmlns="" xmlns:p14="http://schemas.microsoft.com/office/powerpoint/2010/main" val="176176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cstate="print">
              <a:alphaModFix amt="60000"/>
              <a:lum bright="70000" contrast="-70000"/>
              <a:extLst>
                <a:ext uri="{BEBA8EAE-BF5A-486C-A8C5-ECC9F3942E4B}">
                  <a14:imgProps xmlns="" xmlns:a14="http://schemas.microsoft.com/office/drawing/2010/main">
                    <a14:imgLayer r:embed="rId3">
                      <a14:imgEffect>
                        <a14:sharpenSoften amount="61000"/>
                      </a14:imgEffect>
                    </a14:imgLayer>
                  </a14:imgProps>
                </a:ext>
                <a:ext uri="{28A0092B-C50C-407E-A947-70E740481C1C}">
                  <a14:useLocalDpi xmlns=""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fr-FR"/>
              <a:t>Modifiez le style du titre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smtClean="0"/>
              <a:t>Cliquez </a:t>
            </a:r>
            <a:r>
              <a:rPr lang="fr-FR"/>
              <a:t>sur </a:t>
            </a:r>
            <a:r>
              <a:rPr lang="fr-FR" smtClean="0"/>
              <a:t>l icône </a:t>
            </a:r>
            <a:r>
              <a:rPr lang="fr-FR" dirty="0"/>
              <a:t>pour </a:t>
            </a:r>
            <a:r>
              <a:rPr lang="fr-FR" dirty="0" smtClean="0"/>
              <a:t>ajouter une image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645F9597-7059-47EE-95F2-CA44BC3CD0B9}" type="datetimeFigureOut">
              <a:rPr lang="fr-FR" smtClean="0"/>
              <a:pPr/>
              <a:t>03/08/2021</a:t>
            </a:fld>
            <a:endParaRPr lang="fr-FR"/>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cstate="print">
                <a:duotone>
                  <a:schemeClr val="accent1">
                    <a:shade val="45000"/>
                    <a:satMod val="135000"/>
                  </a:schemeClr>
                  <a:prstClr val="white"/>
                </a:duotone>
                <a:extLst>
                  <a:ext uri="{BEBA8EAE-BF5A-486C-A8C5-ECC9F3942E4B}">
                    <a14:imgProps xmln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74C99C63-A67C-4468-87A2-B4CF5B44918A}" type="slidenum">
              <a:rPr lang="fr-FR" smtClean="0"/>
              <a:pPr/>
              <a:t>‹N°›</a:t>
            </a:fld>
            <a:endParaRPr lang="fr-FR"/>
          </a:p>
        </p:txBody>
      </p:sp>
    </p:spTree>
    <p:extLst>
      <p:ext uri="{BB962C8B-B14F-4D97-AF65-F5344CB8AC3E}">
        <p14:creationId xmlns="" xmlns:p14="http://schemas.microsoft.com/office/powerpoint/2010/main" val="3045602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45F9597-7059-47EE-95F2-CA44BC3CD0B9}" type="datetimeFigureOut">
              <a:rPr lang="fr-FR" smtClean="0"/>
              <a:pPr/>
              <a:t>03/08/2021</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4C99C63-A67C-4468-87A2-B4CF5B44918A}" type="slidenum">
              <a:rPr lang="fr-FR" smtClean="0"/>
              <a:pPr/>
              <a:t>‹N°›</a:t>
            </a:fld>
            <a:endParaRPr lang="fr-FR"/>
          </a:p>
        </p:txBody>
      </p:sp>
    </p:spTree>
    <p:extLst>
      <p:ext uri="{BB962C8B-B14F-4D97-AF65-F5344CB8AC3E}">
        <p14:creationId xmlns="" xmlns:p14="http://schemas.microsoft.com/office/powerpoint/2010/main" val="31995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45F9597-7059-47EE-95F2-CA44BC3CD0B9}" type="datetimeFigureOut">
              <a:rPr lang="fr-FR" smtClean="0"/>
              <a:pPr/>
              <a:t>03/08/2021</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4C99C63-A67C-4468-87A2-B4CF5B44918A}" type="slidenum">
              <a:rPr lang="fr-FR" smtClean="0"/>
              <a:pPr/>
              <a:t>‹N°›</a:t>
            </a:fld>
            <a:endParaRPr lang="fr-FR"/>
          </a:p>
        </p:txBody>
      </p:sp>
    </p:spTree>
    <p:extLst>
      <p:ext uri="{BB962C8B-B14F-4D97-AF65-F5344CB8AC3E}">
        <p14:creationId xmlns="" xmlns:p14="http://schemas.microsoft.com/office/powerpoint/2010/main" val="1678084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645F9597-7059-47EE-95F2-CA44BC3CD0B9}" type="datetimeFigureOut">
              <a:rPr lang="fr-FR" smtClean="0"/>
              <a:pPr/>
              <a:t>03/08/2021</a:t>
            </a:fld>
            <a:endParaRPr lang="fr-FR"/>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fr-FR"/>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cstate="print">
                <a:duotone>
                  <a:schemeClr val="accent1">
                    <a:shade val="45000"/>
                    <a:satMod val="135000"/>
                  </a:schemeClr>
                  <a:prstClr val="white"/>
                </a:duotone>
                <a:extLst>
                  <a:ext uri="{BEBA8EAE-BF5A-486C-A8C5-ECC9F3942E4B}">
                    <a14:imgProps xmln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74C99C63-A67C-4468-87A2-B4CF5B44918A}" type="slidenum">
              <a:rPr lang="fr-FR" smtClean="0"/>
              <a:pPr/>
              <a:t>‹N°›</a:t>
            </a:fld>
            <a:endParaRPr lang="fr-FR"/>
          </a:p>
        </p:txBody>
      </p:sp>
    </p:spTree>
    <p:extLst>
      <p:ext uri="{BB962C8B-B14F-4D97-AF65-F5344CB8AC3E}">
        <p14:creationId xmlns="" xmlns:p14="http://schemas.microsoft.com/office/powerpoint/2010/main" val="147350924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xmlns="" id="{59E86273-66FB-4801-A4B3-A895DFAD1165}"/>
              </a:ext>
            </a:extLst>
          </p:cNvPr>
          <p:cNvSpPr>
            <a:spLocks noGrp="1"/>
          </p:cNvSpPr>
          <p:nvPr>
            <p:ph type="title"/>
          </p:nvPr>
        </p:nvSpPr>
        <p:spPr>
          <a:xfrm>
            <a:off x="2434414" y="1394122"/>
            <a:ext cx="9757586" cy="3520440"/>
          </a:xfrm>
        </p:spPr>
        <p:txBody>
          <a:bodyPr>
            <a:normAutofit/>
          </a:bodyPr>
          <a:lstStyle/>
          <a:p>
            <a:r>
              <a:rPr lang="fr-FR" sz="4400" dirty="0" smtClean="0"/>
              <a:t>LMD(Data Manipulation </a:t>
            </a:r>
            <a:r>
              <a:rPr lang="fr-FR" sz="4400" dirty="0" err="1" smtClean="0"/>
              <a:t>Language</a:t>
            </a:r>
            <a:r>
              <a:rPr lang="fr-FR" sz="4400" dirty="0" smtClean="0"/>
              <a:t>)</a:t>
            </a:r>
            <a:endParaRPr lang="x-none" sz="4400" dirty="0"/>
          </a:p>
        </p:txBody>
      </p:sp>
      <p:sp>
        <p:nvSpPr>
          <p:cNvPr id="6" name="Espace réservé du texte 5"/>
          <p:cNvSpPr>
            <a:spLocks noGrp="1"/>
          </p:cNvSpPr>
          <p:nvPr>
            <p:ph type="body" idx="1"/>
          </p:nvPr>
        </p:nvSpPr>
        <p:spPr/>
        <p:txBody>
          <a:bodyPr/>
          <a:lstStyle/>
          <a:p>
            <a:r>
              <a:rPr lang="fr-FR" dirty="0" smtClean="0"/>
              <a:t>Suite(2)</a:t>
            </a:r>
            <a:endParaRPr lang="fr-FR" dirty="0"/>
          </a:p>
        </p:txBody>
      </p:sp>
    </p:spTree>
    <p:extLst>
      <p:ext uri="{BB962C8B-B14F-4D97-AF65-F5344CB8AC3E}">
        <p14:creationId xmlns:p14="http://schemas.microsoft.com/office/powerpoint/2010/main" xmlns="" val="28001950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058472" y="514200"/>
            <a:ext cx="10058400" cy="1609344"/>
          </a:xfrm>
          <a:prstGeom prst="rect">
            <a:avLst/>
          </a:prstGeom>
        </p:spPr>
        <p:txBody>
          <a:bodyPr vert="horz" lIns="91440" tIns="45720" rIns="91440" bIns="45720" rtlCol="0" anchor="ctr">
            <a:normAutofit/>
          </a:bodyPr>
          <a:lstStyle/>
          <a:p>
            <a:pPr>
              <a:lnSpc>
                <a:spcPct val="90000"/>
              </a:lnSpc>
              <a:spcBef>
                <a:spcPct val="0"/>
              </a:spcBef>
              <a:defRPr/>
            </a:pPr>
            <a:r>
              <a:rPr lang="fr-FR" sz="4400" cap="all" dirty="0" smtClean="0">
                <a:blipFill>
                  <a:blip r:embed="rId2">
                    <a:extLst>
                      <a:ext uri="{28A0092B-C50C-407E-A947-70E740481C1C}">
                        <a14:useLocalDpi xmlns="" xmlns:a14="http://schemas.microsoft.com/office/drawing/2010/main" val="0"/>
                      </a:ext>
                    </a:extLst>
                  </a:blip>
                  <a:tile tx="6350" ty="-127000" sx="65000" sy="64000" flip="none" algn="tl"/>
                </a:blipFill>
                <a:latin typeface="+mj-lt"/>
                <a:ea typeface="+mj-ea"/>
                <a:cs typeface="+mj-cs"/>
              </a:rPr>
              <a:t>DISTINCT</a:t>
            </a:r>
            <a:endParaRPr lang="fr-FR" sz="4400" cap="all" dirty="0" smtClean="0">
              <a:blipFill>
                <a:blip r:embed="rId2">
                  <a:extLst>
                    <a:ext uri="{28A0092B-C50C-407E-A947-70E740481C1C}">
                      <a14:useLocalDpi xmlns="" xmlns:a14="http://schemas.microsoft.com/office/drawing/2010/main" val="0"/>
                    </a:ext>
                  </a:extLst>
                </a:blip>
                <a:tile tx="6350" ty="-127000" sx="65000" sy="64000" flip="none" algn="tl"/>
              </a:blipFill>
              <a:latin typeface="+mj-lt"/>
              <a:ea typeface="+mj-ea"/>
              <a:cs typeface="+mj-cs"/>
            </a:endParaRPr>
          </a:p>
        </p:txBody>
      </p:sp>
      <p:sp>
        <p:nvSpPr>
          <p:cNvPr id="7" name="Espace réservé du contenu 2"/>
          <p:cNvSpPr>
            <a:spLocks noGrp="1"/>
          </p:cNvSpPr>
          <p:nvPr>
            <p:ph sz="quarter" idx="1"/>
          </p:nvPr>
        </p:nvSpPr>
        <p:spPr>
          <a:xfrm>
            <a:off x="1297671" y="2013046"/>
            <a:ext cx="9785487" cy="1214446"/>
          </a:xfrm>
        </p:spPr>
        <p:txBody>
          <a:bodyPr>
            <a:normAutofit/>
          </a:bodyPr>
          <a:lstStyle/>
          <a:p>
            <a:pPr algn="just">
              <a:buNone/>
            </a:pPr>
            <a:r>
              <a:rPr lang="fr-FR" dirty="0" smtClean="0"/>
              <a:t>	Le DISTINCT permet d’éviter les redondances dans les résultats du SELECT. L’utilisation basique de cette commande consiste alors à effectuer la requête suivante :</a:t>
            </a:r>
          </a:p>
          <a:p>
            <a:pPr>
              <a:buNone/>
            </a:pPr>
            <a:endParaRPr lang="fr-FR" dirty="0" smtClean="0"/>
          </a:p>
          <a:p>
            <a:pPr>
              <a:buNone/>
            </a:pPr>
            <a:endParaRPr lang="fr-FR" dirty="0" smtClean="0"/>
          </a:p>
          <a:p>
            <a:pPr>
              <a:buNone/>
            </a:pPr>
            <a:endParaRPr lang="fr-FR" dirty="0"/>
          </a:p>
        </p:txBody>
      </p:sp>
      <p:pic>
        <p:nvPicPr>
          <p:cNvPr id="12" name="Picture 2"/>
          <p:cNvPicPr>
            <a:picLocks noChangeAspect="1" noChangeArrowheads="1"/>
          </p:cNvPicPr>
          <p:nvPr/>
        </p:nvPicPr>
        <p:blipFill>
          <a:blip r:embed="rId3"/>
          <a:srcRect/>
          <a:stretch>
            <a:fillRect/>
          </a:stretch>
        </p:blipFill>
        <p:spPr bwMode="auto">
          <a:xfrm>
            <a:off x="1814489" y="3819192"/>
            <a:ext cx="6321396" cy="563621"/>
          </a:xfrm>
          <a:prstGeom prst="rect">
            <a:avLst/>
          </a:prstGeom>
          <a:noFill/>
          <a:ln w="9525">
            <a:noFill/>
            <a:miter lim="800000"/>
            <a:headEnd/>
            <a:tailEnd/>
          </a:ln>
          <a:effectLst/>
        </p:spPr>
      </p:pic>
      <p:sp>
        <p:nvSpPr>
          <p:cNvPr id="13" name="ZoneTexte 12"/>
          <p:cNvSpPr txBox="1"/>
          <p:nvPr/>
        </p:nvSpPr>
        <p:spPr>
          <a:xfrm>
            <a:off x="1828800" y="3231931"/>
            <a:ext cx="1182631" cy="369332"/>
          </a:xfrm>
          <a:prstGeom prst="rect">
            <a:avLst/>
          </a:prstGeom>
          <a:noFill/>
        </p:spPr>
        <p:txBody>
          <a:bodyPr wrap="none" rtlCol="0">
            <a:spAutoFit/>
          </a:bodyPr>
          <a:lstStyle/>
          <a:p>
            <a:r>
              <a:rPr lang="fr-FR" b="1" dirty="0" smtClean="0"/>
              <a:t>Syntaxe: </a:t>
            </a:r>
            <a:endParaRPr lang="fr-FR" b="1" dirty="0"/>
          </a:p>
        </p:txBody>
      </p:sp>
      <p:sp>
        <p:nvSpPr>
          <p:cNvPr id="14" name="ZoneTexte 13"/>
          <p:cNvSpPr txBox="1"/>
          <p:nvPr/>
        </p:nvSpPr>
        <p:spPr>
          <a:xfrm>
            <a:off x="1839310" y="4661338"/>
            <a:ext cx="1265731" cy="369332"/>
          </a:xfrm>
          <a:prstGeom prst="rect">
            <a:avLst/>
          </a:prstGeom>
          <a:noFill/>
        </p:spPr>
        <p:txBody>
          <a:bodyPr wrap="none" rtlCol="0">
            <a:spAutoFit/>
          </a:bodyPr>
          <a:lstStyle/>
          <a:p>
            <a:r>
              <a:rPr lang="fr-FR" b="1" dirty="0" smtClean="0"/>
              <a:t>Exemple:</a:t>
            </a:r>
            <a:endParaRPr lang="fr-FR" b="1" dirty="0"/>
          </a:p>
        </p:txBody>
      </p:sp>
      <p:sp>
        <p:nvSpPr>
          <p:cNvPr id="15" name="ZoneTexte 14"/>
          <p:cNvSpPr txBox="1"/>
          <p:nvPr/>
        </p:nvSpPr>
        <p:spPr>
          <a:xfrm>
            <a:off x="1970689" y="5376041"/>
            <a:ext cx="3562578" cy="369332"/>
          </a:xfrm>
          <a:prstGeom prst="rect">
            <a:avLst/>
          </a:prstGeom>
          <a:noFill/>
        </p:spPr>
        <p:txBody>
          <a:bodyPr wrap="none" rtlCol="0">
            <a:spAutoFit/>
          </a:bodyPr>
          <a:lstStyle/>
          <a:p>
            <a:r>
              <a:rPr lang="fr-FR" dirty="0" smtClean="0"/>
              <a:t>Select distinct(nom) </a:t>
            </a:r>
            <a:r>
              <a:rPr lang="fr-FR" dirty="0" err="1" smtClean="0"/>
              <a:t>from</a:t>
            </a:r>
            <a:r>
              <a:rPr lang="fr-FR" dirty="0" smtClean="0"/>
              <a:t> client;</a:t>
            </a:r>
            <a:endParaRPr lang="fr-F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153065" y="514201"/>
            <a:ext cx="10058400" cy="1609344"/>
          </a:xfrm>
          <a:prstGeom prst="rect">
            <a:avLst/>
          </a:prstGeom>
        </p:spPr>
        <p:txBody>
          <a:bodyPr vert="horz" lIns="91440" tIns="45720" rIns="91440" bIns="45720" rtlCol="0" anchor="ctr">
            <a:normAutofit/>
          </a:bodyPr>
          <a:lstStyle/>
          <a:p>
            <a:pPr>
              <a:lnSpc>
                <a:spcPct val="90000"/>
              </a:lnSpc>
              <a:spcBef>
                <a:spcPct val="0"/>
              </a:spcBef>
              <a:defRPr/>
            </a:pPr>
            <a:r>
              <a:rPr lang="fr-FR" sz="4400" cap="all" dirty="0" smtClean="0">
                <a:blipFill>
                  <a:blip r:embed="rId2">
                    <a:extLst>
                      <a:ext uri="{28A0092B-C50C-407E-A947-70E740481C1C}">
                        <a14:useLocalDpi xmlns="" xmlns:a14="http://schemas.microsoft.com/office/drawing/2010/main" val="0"/>
                      </a:ext>
                    </a:extLst>
                  </a:blip>
                  <a:tile tx="6350" ty="-127000" sx="65000" sy="64000" flip="none" algn="tl"/>
                </a:blipFill>
                <a:latin typeface="+mj-lt"/>
                <a:ea typeface="+mj-ea"/>
                <a:cs typeface="+mj-cs"/>
              </a:rPr>
              <a:t>AS </a:t>
            </a:r>
            <a:r>
              <a:rPr lang="fr-FR" sz="4400" cap="all" dirty="0" smtClean="0">
                <a:blipFill>
                  <a:blip r:embed="rId2">
                    <a:extLst>
                      <a:ext uri="{28A0092B-C50C-407E-A947-70E740481C1C}">
                        <a14:useLocalDpi xmlns="" xmlns:a14="http://schemas.microsoft.com/office/drawing/2010/main" val="0"/>
                      </a:ext>
                    </a:extLst>
                  </a:blip>
                  <a:tile tx="6350" ty="-127000" sx="65000" sy="64000" flip="none" algn="tl"/>
                </a:blipFill>
                <a:latin typeface="+mj-lt"/>
                <a:ea typeface="+mj-ea"/>
                <a:cs typeface="+mj-cs"/>
              </a:rPr>
              <a:t>(alias)</a:t>
            </a:r>
          </a:p>
        </p:txBody>
      </p:sp>
      <p:sp>
        <p:nvSpPr>
          <p:cNvPr id="13" name="ZoneTexte 12"/>
          <p:cNvSpPr txBox="1"/>
          <p:nvPr/>
        </p:nvSpPr>
        <p:spPr>
          <a:xfrm>
            <a:off x="1828800" y="3231931"/>
            <a:ext cx="1182631" cy="369332"/>
          </a:xfrm>
          <a:prstGeom prst="rect">
            <a:avLst/>
          </a:prstGeom>
          <a:noFill/>
        </p:spPr>
        <p:txBody>
          <a:bodyPr wrap="none" rtlCol="0">
            <a:spAutoFit/>
          </a:bodyPr>
          <a:lstStyle/>
          <a:p>
            <a:r>
              <a:rPr lang="fr-FR" b="1" dirty="0" smtClean="0"/>
              <a:t>Syntaxe: </a:t>
            </a:r>
            <a:endParaRPr lang="fr-FR" b="1" dirty="0"/>
          </a:p>
        </p:txBody>
      </p:sp>
      <p:sp>
        <p:nvSpPr>
          <p:cNvPr id="14" name="ZoneTexte 13"/>
          <p:cNvSpPr txBox="1"/>
          <p:nvPr/>
        </p:nvSpPr>
        <p:spPr>
          <a:xfrm>
            <a:off x="1839310" y="4661338"/>
            <a:ext cx="1265731" cy="369332"/>
          </a:xfrm>
          <a:prstGeom prst="rect">
            <a:avLst/>
          </a:prstGeom>
          <a:noFill/>
        </p:spPr>
        <p:txBody>
          <a:bodyPr wrap="none" rtlCol="0">
            <a:spAutoFit/>
          </a:bodyPr>
          <a:lstStyle/>
          <a:p>
            <a:r>
              <a:rPr lang="fr-FR" b="1" dirty="0" smtClean="0"/>
              <a:t>Exemple:</a:t>
            </a:r>
            <a:endParaRPr lang="fr-FR" b="1" dirty="0"/>
          </a:p>
        </p:txBody>
      </p:sp>
      <p:sp>
        <p:nvSpPr>
          <p:cNvPr id="15" name="ZoneTexte 14"/>
          <p:cNvSpPr txBox="1"/>
          <p:nvPr/>
        </p:nvSpPr>
        <p:spPr>
          <a:xfrm>
            <a:off x="1844565" y="5360276"/>
            <a:ext cx="3952749" cy="369332"/>
          </a:xfrm>
          <a:prstGeom prst="rect">
            <a:avLst/>
          </a:prstGeom>
          <a:noFill/>
        </p:spPr>
        <p:txBody>
          <a:bodyPr wrap="none" rtlCol="0">
            <a:spAutoFit/>
          </a:bodyPr>
          <a:lstStyle/>
          <a:p>
            <a:r>
              <a:rPr lang="fr-FR" dirty="0" smtClean="0"/>
              <a:t>Select </a:t>
            </a:r>
            <a:r>
              <a:rPr lang="fr-FR" dirty="0" err="1" smtClean="0"/>
              <a:t>ncli</a:t>
            </a:r>
            <a:r>
              <a:rPr lang="fr-FR" dirty="0" smtClean="0"/>
              <a:t> as identifiant </a:t>
            </a:r>
            <a:r>
              <a:rPr lang="fr-FR" dirty="0" err="1" smtClean="0"/>
              <a:t>from</a:t>
            </a:r>
            <a:r>
              <a:rPr lang="fr-FR" dirty="0" smtClean="0"/>
              <a:t> client;</a:t>
            </a:r>
            <a:endParaRPr lang="fr-FR" dirty="0"/>
          </a:p>
        </p:txBody>
      </p:sp>
      <p:sp>
        <p:nvSpPr>
          <p:cNvPr id="8" name="Espace réservé du contenu 7"/>
          <p:cNvSpPr>
            <a:spLocks noGrp="1"/>
          </p:cNvSpPr>
          <p:nvPr>
            <p:ph idx="1"/>
          </p:nvPr>
        </p:nvSpPr>
        <p:spPr>
          <a:xfrm>
            <a:off x="1069848" y="2121408"/>
            <a:ext cx="10754290" cy="3096978"/>
          </a:xfrm>
        </p:spPr>
        <p:txBody>
          <a:bodyPr/>
          <a:lstStyle/>
          <a:p>
            <a:pPr>
              <a:buNone/>
            </a:pPr>
            <a:r>
              <a:rPr lang="fr-FR" dirty="0" smtClean="0"/>
              <a:t>   Dans le langage SQL il est possible d’utiliser des alias pour renommer temporairement une colonne ou une table dans une requête. Cette astuce est particulièrement utile pour faciliter la lecture des requêtes.</a:t>
            </a:r>
          </a:p>
          <a:p>
            <a:pPr>
              <a:buNone/>
            </a:pPr>
            <a:endParaRPr lang="fr-FR" dirty="0"/>
          </a:p>
        </p:txBody>
      </p:sp>
      <p:pic>
        <p:nvPicPr>
          <p:cNvPr id="9" name="Picture 3"/>
          <p:cNvPicPr>
            <a:picLocks noChangeAspect="1" noChangeArrowheads="1"/>
          </p:cNvPicPr>
          <p:nvPr/>
        </p:nvPicPr>
        <p:blipFill>
          <a:blip r:embed="rId3"/>
          <a:srcRect/>
          <a:stretch>
            <a:fillRect/>
          </a:stretch>
        </p:blipFill>
        <p:spPr bwMode="auto">
          <a:xfrm>
            <a:off x="1798726" y="3793579"/>
            <a:ext cx="5438775" cy="4857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153065" y="514201"/>
            <a:ext cx="10058400" cy="1609344"/>
          </a:xfrm>
          <a:prstGeom prst="rect">
            <a:avLst/>
          </a:prstGeom>
        </p:spPr>
        <p:txBody>
          <a:bodyPr vert="horz" lIns="91440" tIns="45720" rIns="91440" bIns="45720" rtlCol="0" anchor="ctr">
            <a:normAutofit/>
          </a:bodyPr>
          <a:lstStyle/>
          <a:p>
            <a:pPr>
              <a:lnSpc>
                <a:spcPct val="90000"/>
              </a:lnSpc>
              <a:spcBef>
                <a:spcPct val="0"/>
              </a:spcBef>
              <a:defRPr/>
            </a:pPr>
            <a:r>
              <a:rPr lang="fr-FR" sz="4400" cap="all" dirty="0" smtClean="0">
                <a:blipFill>
                  <a:blip r:embed="rId2">
                    <a:extLst>
                      <a:ext uri="{28A0092B-C50C-407E-A947-70E740481C1C}">
                        <a14:useLocalDpi xmlns="" xmlns:a14="http://schemas.microsoft.com/office/drawing/2010/main" val="0"/>
                      </a:ext>
                    </a:extLst>
                  </a:blip>
                  <a:tile tx="6350" ty="-127000" sx="65000" sy="64000" flip="none" algn="tl"/>
                </a:blipFill>
                <a:latin typeface="+mj-lt"/>
                <a:ea typeface="+mj-ea"/>
                <a:cs typeface="+mj-cs"/>
              </a:rPr>
              <a:t>WHERE</a:t>
            </a:r>
            <a:endParaRPr lang="fr-FR" sz="4400" cap="all" dirty="0" smtClean="0">
              <a:blipFill>
                <a:blip r:embed="rId2">
                  <a:extLst>
                    <a:ext uri="{28A0092B-C50C-407E-A947-70E740481C1C}">
                      <a14:useLocalDpi xmlns="" xmlns:a14="http://schemas.microsoft.com/office/drawing/2010/main" val="0"/>
                    </a:ext>
                  </a:extLst>
                </a:blip>
                <a:tile tx="6350" ty="-127000" sx="65000" sy="64000" flip="none" algn="tl"/>
              </a:blipFill>
              <a:latin typeface="+mj-lt"/>
              <a:ea typeface="+mj-ea"/>
              <a:cs typeface="+mj-cs"/>
            </a:endParaRPr>
          </a:p>
        </p:txBody>
      </p:sp>
      <p:sp>
        <p:nvSpPr>
          <p:cNvPr id="13" name="ZoneTexte 12"/>
          <p:cNvSpPr txBox="1"/>
          <p:nvPr/>
        </p:nvSpPr>
        <p:spPr>
          <a:xfrm>
            <a:off x="1828800" y="3231931"/>
            <a:ext cx="1182631" cy="369332"/>
          </a:xfrm>
          <a:prstGeom prst="rect">
            <a:avLst/>
          </a:prstGeom>
          <a:noFill/>
        </p:spPr>
        <p:txBody>
          <a:bodyPr wrap="none" rtlCol="0">
            <a:spAutoFit/>
          </a:bodyPr>
          <a:lstStyle/>
          <a:p>
            <a:r>
              <a:rPr lang="fr-FR" b="1" dirty="0" smtClean="0"/>
              <a:t>Syntaxe: </a:t>
            </a:r>
            <a:endParaRPr lang="fr-FR" b="1" dirty="0"/>
          </a:p>
        </p:txBody>
      </p:sp>
      <p:sp>
        <p:nvSpPr>
          <p:cNvPr id="14" name="ZoneTexte 13"/>
          <p:cNvSpPr txBox="1"/>
          <p:nvPr/>
        </p:nvSpPr>
        <p:spPr>
          <a:xfrm>
            <a:off x="1839310" y="4661338"/>
            <a:ext cx="1265731" cy="369332"/>
          </a:xfrm>
          <a:prstGeom prst="rect">
            <a:avLst/>
          </a:prstGeom>
          <a:noFill/>
        </p:spPr>
        <p:txBody>
          <a:bodyPr wrap="none" rtlCol="0">
            <a:spAutoFit/>
          </a:bodyPr>
          <a:lstStyle/>
          <a:p>
            <a:r>
              <a:rPr lang="fr-FR" b="1" dirty="0" smtClean="0"/>
              <a:t>Exemple:</a:t>
            </a:r>
            <a:endParaRPr lang="fr-FR" b="1" dirty="0"/>
          </a:p>
        </p:txBody>
      </p:sp>
      <p:sp>
        <p:nvSpPr>
          <p:cNvPr id="15" name="ZoneTexte 14"/>
          <p:cNvSpPr txBox="1"/>
          <p:nvPr/>
        </p:nvSpPr>
        <p:spPr>
          <a:xfrm>
            <a:off x="1844565" y="5360276"/>
            <a:ext cx="4053033" cy="369332"/>
          </a:xfrm>
          <a:prstGeom prst="rect">
            <a:avLst/>
          </a:prstGeom>
          <a:noFill/>
        </p:spPr>
        <p:txBody>
          <a:bodyPr wrap="none" rtlCol="0">
            <a:spAutoFit/>
          </a:bodyPr>
          <a:lstStyle/>
          <a:p>
            <a:r>
              <a:rPr lang="fr-FR" dirty="0" smtClean="0"/>
              <a:t>Select nom </a:t>
            </a:r>
            <a:r>
              <a:rPr lang="fr-FR" dirty="0" err="1" smtClean="0"/>
              <a:t>from</a:t>
            </a:r>
            <a:r>
              <a:rPr lang="fr-FR" dirty="0" smtClean="0"/>
              <a:t> client </a:t>
            </a:r>
            <a:r>
              <a:rPr lang="fr-FR" dirty="0" err="1" smtClean="0"/>
              <a:t>where</a:t>
            </a:r>
            <a:r>
              <a:rPr lang="fr-FR" dirty="0" smtClean="0"/>
              <a:t> </a:t>
            </a:r>
            <a:r>
              <a:rPr lang="fr-FR" dirty="0" err="1" smtClean="0"/>
              <a:t>ncli</a:t>
            </a:r>
            <a:r>
              <a:rPr lang="fr-FR" dirty="0" smtClean="0"/>
              <a:t>=4;</a:t>
            </a:r>
            <a:endParaRPr lang="fr-FR" dirty="0"/>
          </a:p>
        </p:txBody>
      </p:sp>
      <p:sp>
        <p:nvSpPr>
          <p:cNvPr id="10" name="Espace réservé du contenu 9"/>
          <p:cNvSpPr>
            <a:spLocks noGrp="1"/>
          </p:cNvSpPr>
          <p:nvPr>
            <p:ph idx="1"/>
          </p:nvPr>
        </p:nvSpPr>
        <p:spPr>
          <a:xfrm>
            <a:off x="1069848" y="2121408"/>
            <a:ext cx="10058400" cy="1173585"/>
          </a:xfrm>
        </p:spPr>
        <p:txBody>
          <a:bodyPr/>
          <a:lstStyle/>
          <a:p>
            <a:pPr algn="just"/>
            <a:r>
              <a:rPr lang="fr-FR" dirty="0" smtClean="0"/>
              <a:t>La commande WHERE dans une requête SQL permet d’extraire les lignes d’une base de données qui respectent une condition. Cela permet d’obtenir uniquement les informations désirées.</a:t>
            </a:r>
          </a:p>
          <a:p>
            <a:endParaRPr lang="fr-FR" dirty="0"/>
          </a:p>
        </p:txBody>
      </p:sp>
      <p:pic>
        <p:nvPicPr>
          <p:cNvPr id="12" name="Picture 2"/>
          <p:cNvPicPr>
            <a:picLocks noChangeAspect="1" noChangeArrowheads="1"/>
          </p:cNvPicPr>
          <p:nvPr/>
        </p:nvPicPr>
        <p:blipFill>
          <a:blip r:embed="rId3"/>
          <a:srcRect/>
          <a:stretch>
            <a:fillRect/>
          </a:stretch>
        </p:blipFill>
        <p:spPr bwMode="auto">
          <a:xfrm>
            <a:off x="1381431" y="3681749"/>
            <a:ext cx="6485562" cy="6762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153065" y="514201"/>
            <a:ext cx="10058400" cy="1609344"/>
          </a:xfrm>
          <a:prstGeom prst="rect">
            <a:avLst/>
          </a:prstGeom>
        </p:spPr>
        <p:txBody>
          <a:bodyPr vert="horz" lIns="91440" tIns="45720" rIns="91440" bIns="45720" rtlCol="0" anchor="ctr">
            <a:normAutofit/>
          </a:bodyPr>
          <a:lstStyle/>
          <a:p>
            <a:pPr>
              <a:lnSpc>
                <a:spcPct val="90000"/>
              </a:lnSpc>
              <a:spcBef>
                <a:spcPct val="0"/>
              </a:spcBef>
              <a:defRPr/>
            </a:pPr>
            <a:r>
              <a:rPr lang="fr-FR" sz="4400" cap="all" dirty="0" smtClean="0">
                <a:blipFill>
                  <a:blip r:embed="rId2">
                    <a:extLst>
                      <a:ext uri="{28A0092B-C50C-407E-A947-70E740481C1C}">
                        <a14:useLocalDpi xmlns="" xmlns:a14="http://schemas.microsoft.com/office/drawing/2010/main" val="0"/>
                      </a:ext>
                    </a:extLst>
                  </a:blip>
                  <a:tile tx="6350" ty="-127000" sx="65000" sy="64000" flip="none" algn="tl"/>
                </a:blipFill>
                <a:latin typeface="+mj-lt"/>
                <a:ea typeface="+mj-ea"/>
                <a:cs typeface="+mj-cs"/>
              </a:rPr>
              <a:t>WHERE</a:t>
            </a:r>
            <a:endParaRPr lang="fr-FR" sz="4400" cap="all" dirty="0" smtClean="0">
              <a:blipFill>
                <a:blip r:embed="rId2">
                  <a:extLst>
                    <a:ext uri="{28A0092B-C50C-407E-A947-70E740481C1C}">
                      <a14:useLocalDpi xmlns="" xmlns:a14="http://schemas.microsoft.com/office/drawing/2010/main" val="0"/>
                    </a:ext>
                  </a:extLst>
                </a:blip>
                <a:tile tx="6350" ty="-127000" sx="65000" sy="64000" flip="none" algn="tl"/>
              </a:blipFill>
              <a:latin typeface="+mj-lt"/>
              <a:ea typeface="+mj-ea"/>
              <a:cs typeface="+mj-cs"/>
            </a:endParaRPr>
          </a:p>
        </p:txBody>
      </p:sp>
      <p:sp>
        <p:nvSpPr>
          <p:cNvPr id="13" name="ZoneTexte 12"/>
          <p:cNvSpPr txBox="1"/>
          <p:nvPr/>
        </p:nvSpPr>
        <p:spPr>
          <a:xfrm>
            <a:off x="1828800" y="3231931"/>
            <a:ext cx="1182631" cy="369332"/>
          </a:xfrm>
          <a:prstGeom prst="rect">
            <a:avLst/>
          </a:prstGeom>
          <a:noFill/>
        </p:spPr>
        <p:txBody>
          <a:bodyPr wrap="none" rtlCol="0">
            <a:spAutoFit/>
          </a:bodyPr>
          <a:lstStyle/>
          <a:p>
            <a:r>
              <a:rPr lang="fr-FR" b="1" dirty="0" smtClean="0"/>
              <a:t>Syntaxe: </a:t>
            </a:r>
            <a:endParaRPr lang="fr-FR" b="1" dirty="0"/>
          </a:p>
        </p:txBody>
      </p:sp>
      <p:sp>
        <p:nvSpPr>
          <p:cNvPr id="14" name="ZoneTexte 13"/>
          <p:cNvSpPr txBox="1"/>
          <p:nvPr/>
        </p:nvSpPr>
        <p:spPr>
          <a:xfrm>
            <a:off x="1839310" y="4661338"/>
            <a:ext cx="1265731" cy="369332"/>
          </a:xfrm>
          <a:prstGeom prst="rect">
            <a:avLst/>
          </a:prstGeom>
          <a:noFill/>
        </p:spPr>
        <p:txBody>
          <a:bodyPr wrap="none" rtlCol="0">
            <a:spAutoFit/>
          </a:bodyPr>
          <a:lstStyle/>
          <a:p>
            <a:r>
              <a:rPr lang="fr-FR" b="1" dirty="0" smtClean="0"/>
              <a:t>Exemple:</a:t>
            </a:r>
            <a:endParaRPr lang="fr-FR" b="1" dirty="0"/>
          </a:p>
        </p:txBody>
      </p:sp>
      <p:sp>
        <p:nvSpPr>
          <p:cNvPr id="15" name="ZoneTexte 14"/>
          <p:cNvSpPr txBox="1"/>
          <p:nvPr/>
        </p:nvSpPr>
        <p:spPr>
          <a:xfrm>
            <a:off x="1844565" y="5360276"/>
            <a:ext cx="4053033" cy="369332"/>
          </a:xfrm>
          <a:prstGeom prst="rect">
            <a:avLst/>
          </a:prstGeom>
          <a:noFill/>
        </p:spPr>
        <p:txBody>
          <a:bodyPr wrap="none" rtlCol="0">
            <a:spAutoFit/>
          </a:bodyPr>
          <a:lstStyle/>
          <a:p>
            <a:r>
              <a:rPr lang="fr-FR" dirty="0" smtClean="0"/>
              <a:t>Select nom </a:t>
            </a:r>
            <a:r>
              <a:rPr lang="fr-FR" dirty="0" err="1" smtClean="0"/>
              <a:t>from</a:t>
            </a:r>
            <a:r>
              <a:rPr lang="fr-FR" dirty="0" smtClean="0"/>
              <a:t> client </a:t>
            </a:r>
            <a:r>
              <a:rPr lang="fr-FR" dirty="0" err="1" smtClean="0"/>
              <a:t>where</a:t>
            </a:r>
            <a:r>
              <a:rPr lang="fr-FR" dirty="0" smtClean="0"/>
              <a:t> </a:t>
            </a:r>
            <a:r>
              <a:rPr lang="fr-FR" dirty="0" err="1" smtClean="0"/>
              <a:t>ncli</a:t>
            </a:r>
            <a:r>
              <a:rPr lang="fr-FR" dirty="0" smtClean="0"/>
              <a:t>=4;</a:t>
            </a:r>
            <a:endParaRPr lang="fr-FR" dirty="0"/>
          </a:p>
        </p:txBody>
      </p:sp>
      <p:sp>
        <p:nvSpPr>
          <p:cNvPr id="10" name="Espace réservé du contenu 9"/>
          <p:cNvSpPr>
            <a:spLocks noGrp="1"/>
          </p:cNvSpPr>
          <p:nvPr>
            <p:ph idx="1"/>
          </p:nvPr>
        </p:nvSpPr>
        <p:spPr>
          <a:xfrm>
            <a:off x="1069848" y="2121408"/>
            <a:ext cx="10058400" cy="1173585"/>
          </a:xfrm>
        </p:spPr>
        <p:txBody>
          <a:bodyPr/>
          <a:lstStyle/>
          <a:p>
            <a:pPr algn="just">
              <a:buNone/>
            </a:pPr>
            <a:r>
              <a:rPr lang="fr-FR" dirty="0" smtClean="0"/>
              <a:t>   La commande WHERE dans une requête SQL permet d’extraire les lignes d’une base de données qui respectent une condition. Cela permet d’obtenir uniquement les informations désirées.</a:t>
            </a:r>
          </a:p>
          <a:p>
            <a:endParaRPr lang="fr-FR" dirty="0"/>
          </a:p>
        </p:txBody>
      </p:sp>
      <p:pic>
        <p:nvPicPr>
          <p:cNvPr id="12" name="Picture 2"/>
          <p:cNvPicPr>
            <a:picLocks noChangeAspect="1" noChangeArrowheads="1"/>
          </p:cNvPicPr>
          <p:nvPr/>
        </p:nvPicPr>
        <p:blipFill>
          <a:blip r:embed="rId3"/>
          <a:srcRect/>
          <a:stretch>
            <a:fillRect/>
          </a:stretch>
        </p:blipFill>
        <p:spPr bwMode="auto">
          <a:xfrm>
            <a:off x="1381431" y="3681749"/>
            <a:ext cx="6485562" cy="6762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153065" y="514201"/>
            <a:ext cx="10058400" cy="1609344"/>
          </a:xfrm>
          <a:prstGeom prst="rect">
            <a:avLst/>
          </a:prstGeom>
        </p:spPr>
        <p:txBody>
          <a:bodyPr vert="horz" lIns="91440" tIns="45720" rIns="91440" bIns="45720" rtlCol="0" anchor="ctr">
            <a:normAutofit/>
          </a:bodyPr>
          <a:lstStyle/>
          <a:p>
            <a:pPr>
              <a:lnSpc>
                <a:spcPct val="90000"/>
              </a:lnSpc>
              <a:spcBef>
                <a:spcPct val="0"/>
              </a:spcBef>
              <a:defRPr/>
            </a:pPr>
            <a:r>
              <a:rPr lang="fr-FR" sz="4400" cap="all" dirty="0" smtClean="0">
                <a:blipFill>
                  <a:blip r:embed="rId2">
                    <a:extLst>
                      <a:ext uri="{28A0092B-C50C-407E-A947-70E740481C1C}">
                        <a14:useLocalDpi xmlns="" xmlns:a14="http://schemas.microsoft.com/office/drawing/2010/main" val="0"/>
                      </a:ext>
                    </a:extLst>
                  </a:blip>
                  <a:tile tx="6350" ty="-127000" sx="65000" sy="64000" flip="none" algn="tl"/>
                </a:blipFill>
                <a:latin typeface="+mj-lt"/>
                <a:ea typeface="+mj-ea"/>
                <a:cs typeface="+mj-cs"/>
              </a:rPr>
              <a:t>Opérateurs </a:t>
            </a:r>
            <a:r>
              <a:rPr lang="fr-FR" sz="4400" cap="all" dirty="0" smtClean="0">
                <a:blipFill>
                  <a:blip r:embed="rId2">
                    <a:extLst>
                      <a:ext uri="{28A0092B-C50C-407E-A947-70E740481C1C}">
                        <a14:useLocalDpi xmlns="" xmlns:a14="http://schemas.microsoft.com/office/drawing/2010/main" val="0"/>
                      </a:ext>
                    </a:extLst>
                  </a:blip>
                  <a:tile tx="6350" ty="-127000" sx="65000" sy="64000" flip="none" algn="tl"/>
                </a:blipFill>
                <a:latin typeface="+mj-lt"/>
                <a:ea typeface="+mj-ea"/>
                <a:cs typeface="+mj-cs"/>
              </a:rPr>
              <a:t>de </a:t>
            </a:r>
            <a:r>
              <a:rPr lang="fr-FR" sz="4400" cap="all" dirty="0" smtClean="0">
                <a:blipFill>
                  <a:blip r:embed="rId2">
                    <a:extLst>
                      <a:ext uri="{28A0092B-C50C-407E-A947-70E740481C1C}">
                        <a14:useLocalDpi xmlns="" xmlns:a14="http://schemas.microsoft.com/office/drawing/2010/main" val="0"/>
                      </a:ext>
                    </a:extLst>
                  </a:blip>
                  <a:tile tx="6350" ty="-127000" sx="65000" sy="64000" flip="none" algn="tl"/>
                </a:blipFill>
                <a:latin typeface="+mj-lt"/>
                <a:ea typeface="+mj-ea"/>
                <a:cs typeface="+mj-cs"/>
              </a:rPr>
              <a:t>comparaison</a:t>
            </a:r>
            <a:endParaRPr lang="fr-FR" sz="4400" cap="all" dirty="0" smtClean="0">
              <a:blipFill>
                <a:blip r:embed="rId2">
                  <a:extLst>
                    <a:ext uri="{28A0092B-C50C-407E-A947-70E740481C1C}">
                      <a14:useLocalDpi xmlns="" xmlns:a14="http://schemas.microsoft.com/office/drawing/2010/main" val="0"/>
                    </a:ext>
                  </a:extLst>
                </a:blip>
                <a:tile tx="6350" ty="-127000" sx="65000" sy="64000" flip="none" algn="tl"/>
              </a:blipFill>
              <a:latin typeface="+mj-lt"/>
              <a:ea typeface="+mj-ea"/>
              <a:cs typeface="+mj-cs"/>
            </a:endParaRPr>
          </a:p>
        </p:txBody>
      </p:sp>
      <p:pic>
        <p:nvPicPr>
          <p:cNvPr id="9" name="Picture 2"/>
          <p:cNvPicPr>
            <a:picLocks noChangeAspect="1" noChangeArrowheads="1"/>
          </p:cNvPicPr>
          <p:nvPr/>
        </p:nvPicPr>
        <p:blipFill>
          <a:blip r:embed="rId3"/>
          <a:srcRect/>
          <a:stretch>
            <a:fillRect/>
          </a:stretch>
        </p:blipFill>
        <p:spPr bwMode="auto">
          <a:xfrm>
            <a:off x="1283879" y="2007629"/>
            <a:ext cx="8869113" cy="441005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p:cNvSpPr txBox="1">
            <a:spLocks/>
          </p:cNvSpPr>
          <p:nvPr/>
        </p:nvSpPr>
        <p:spPr>
          <a:xfrm>
            <a:off x="1153065" y="514201"/>
            <a:ext cx="10058400" cy="1609344"/>
          </a:xfrm>
          <a:prstGeom prst="rect">
            <a:avLst/>
          </a:prstGeom>
        </p:spPr>
        <p:txBody>
          <a:bodyPr vert="horz" lIns="91440" tIns="45720" rIns="91440" bIns="45720" rtlCol="0" anchor="ctr">
            <a:normAutofit/>
          </a:bodyPr>
          <a:lstStyle/>
          <a:p>
            <a:pPr>
              <a:lnSpc>
                <a:spcPct val="90000"/>
              </a:lnSpc>
              <a:spcBef>
                <a:spcPct val="0"/>
              </a:spcBef>
              <a:defRPr/>
            </a:pPr>
            <a:r>
              <a:rPr lang="fr-FR" sz="4400" cap="all" dirty="0" smtClean="0">
                <a:blipFill>
                  <a:blip r:embed="rId2">
                    <a:extLst>
                      <a:ext uri="{28A0092B-C50C-407E-A947-70E740481C1C}">
                        <a14:useLocalDpi xmlns="" xmlns:a14="http://schemas.microsoft.com/office/drawing/2010/main" val="0"/>
                      </a:ext>
                    </a:extLst>
                  </a:blip>
                  <a:tile tx="6350" ty="-127000" sx="65000" sy="64000" flip="none" algn="tl"/>
                </a:blipFill>
                <a:latin typeface="+mj-lt"/>
                <a:ea typeface="+mj-ea"/>
                <a:cs typeface="+mj-cs"/>
              </a:rPr>
              <a:t>AND </a:t>
            </a:r>
            <a:r>
              <a:rPr lang="fr-FR" sz="4400" cap="all" dirty="0" smtClean="0">
                <a:blipFill>
                  <a:blip r:embed="rId2">
                    <a:extLst>
                      <a:ext uri="{28A0092B-C50C-407E-A947-70E740481C1C}">
                        <a14:useLocalDpi xmlns="" xmlns:a14="http://schemas.microsoft.com/office/drawing/2010/main" val="0"/>
                      </a:ext>
                    </a:extLst>
                  </a:blip>
                  <a:tile tx="6350" ty="-127000" sx="65000" sy="64000" flip="none" algn="tl"/>
                </a:blipFill>
                <a:latin typeface="+mj-lt"/>
                <a:ea typeface="+mj-ea"/>
                <a:cs typeface="+mj-cs"/>
              </a:rPr>
              <a:t>&amp; OR</a:t>
            </a:r>
          </a:p>
        </p:txBody>
      </p:sp>
      <p:sp>
        <p:nvSpPr>
          <p:cNvPr id="13" name="ZoneTexte 12"/>
          <p:cNvSpPr txBox="1"/>
          <p:nvPr/>
        </p:nvSpPr>
        <p:spPr>
          <a:xfrm>
            <a:off x="1828800" y="3231931"/>
            <a:ext cx="1182631" cy="369332"/>
          </a:xfrm>
          <a:prstGeom prst="rect">
            <a:avLst/>
          </a:prstGeom>
          <a:noFill/>
        </p:spPr>
        <p:txBody>
          <a:bodyPr wrap="none" rtlCol="0">
            <a:spAutoFit/>
          </a:bodyPr>
          <a:lstStyle/>
          <a:p>
            <a:r>
              <a:rPr lang="fr-FR" b="1" dirty="0" smtClean="0"/>
              <a:t>Syntaxe: </a:t>
            </a:r>
            <a:endParaRPr lang="fr-FR" b="1" dirty="0"/>
          </a:p>
        </p:txBody>
      </p:sp>
      <p:sp>
        <p:nvSpPr>
          <p:cNvPr id="14" name="ZoneTexte 13"/>
          <p:cNvSpPr txBox="1"/>
          <p:nvPr/>
        </p:nvSpPr>
        <p:spPr>
          <a:xfrm>
            <a:off x="1839310" y="4661338"/>
            <a:ext cx="1265731" cy="369332"/>
          </a:xfrm>
          <a:prstGeom prst="rect">
            <a:avLst/>
          </a:prstGeom>
          <a:noFill/>
        </p:spPr>
        <p:txBody>
          <a:bodyPr wrap="none" rtlCol="0">
            <a:spAutoFit/>
          </a:bodyPr>
          <a:lstStyle/>
          <a:p>
            <a:r>
              <a:rPr lang="fr-FR" b="1" dirty="0" smtClean="0"/>
              <a:t>Exemple:</a:t>
            </a:r>
            <a:endParaRPr lang="fr-FR" b="1" dirty="0"/>
          </a:p>
        </p:txBody>
      </p:sp>
      <p:sp>
        <p:nvSpPr>
          <p:cNvPr id="15" name="ZoneTexte 14"/>
          <p:cNvSpPr txBox="1"/>
          <p:nvPr/>
        </p:nvSpPr>
        <p:spPr>
          <a:xfrm>
            <a:off x="1844565" y="5360276"/>
            <a:ext cx="5964390" cy="369332"/>
          </a:xfrm>
          <a:prstGeom prst="rect">
            <a:avLst/>
          </a:prstGeom>
          <a:noFill/>
        </p:spPr>
        <p:txBody>
          <a:bodyPr wrap="none" rtlCol="0">
            <a:spAutoFit/>
          </a:bodyPr>
          <a:lstStyle/>
          <a:p>
            <a:r>
              <a:rPr lang="fr-FR" dirty="0" smtClean="0"/>
              <a:t>Select nom </a:t>
            </a:r>
            <a:r>
              <a:rPr lang="fr-FR" dirty="0" err="1" smtClean="0"/>
              <a:t>from</a:t>
            </a:r>
            <a:r>
              <a:rPr lang="fr-FR" dirty="0" smtClean="0"/>
              <a:t> client </a:t>
            </a:r>
            <a:r>
              <a:rPr lang="fr-FR" dirty="0" err="1" smtClean="0"/>
              <a:t>where</a:t>
            </a:r>
            <a:r>
              <a:rPr lang="fr-FR" dirty="0" smtClean="0"/>
              <a:t> </a:t>
            </a:r>
            <a:r>
              <a:rPr lang="fr-FR" dirty="0" err="1" smtClean="0"/>
              <a:t>ncli</a:t>
            </a:r>
            <a:r>
              <a:rPr lang="fr-FR" dirty="0" smtClean="0"/>
              <a:t>=4 and  nom=‘</a:t>
            </a:r>
            <a:r>
              <a:rPr lang="fr-FR" dirty="0" err="1" smtClean="0"/>
              <a:t>ravao</a:t>
            </a:r>
            <a:r>
              <a:rPr lang="fr-FR" dirty="0" smtClean="0"/>
              <a:t>’;</a:t>
            </a:r>
            <a:endParaRPr lang="fr-FR" dirty="0"/>
          </a:p>
        </p:txBody>
      </p:sp>
      <p:sp>
        <p:nvSpPr>
          <p:cNvPr id="10" name="Espace réservé du contenu 9"/>
          <p:cNvSpPr>
            <a:spLocks noGrp="1"/>
          </p:cNvSpPr>
          <p:nvPr>
            <p:ph idx="1"/>
          </p:nvPr>
        </p:nvSpPr>
        <p:spPr>
          <a:xfrm>
            <a:off x="1069848" y="2121408"/>
            <a:ext cx="10058400" cy="1173585"/>
          </a:xfrm>
        </p:spPr>
        <p:txBody>
          <a:bodyPr/>
          <a:lstStyle/>
          <a:p>
            <a:pPr algn="just"/>
            <a:r>
              <a:rPr lang="fr-FR" dirty="0" smtClean="0"/>
              <a:t>Une requête SQL peut être restreinte à l’aide de la condition WHERE. Les opérateurs logiques AND et OR peuvent être utilisées au sein de la commande WHERE pour combiner des conditions.</a:t>
            </a:r>
            <a:endParaRPr lang="fr-FR" dirty="0"/>
          </a:p>
        </p:txBody>
      </p:sp>
      <p:pic>
        <p:nvPicPr>
          <p:cNvPr id="8" name="Picture 2"/>
          <p:cNvPicPr>
            <a:picLocks noChangeAspect="1" noChangeArrowheads="1"/>
          </p:cNvPicPr>
          <p:nvPr/>
        </p:nvPicPr>
        <p:blipFill>
          <a:blip r:embed="rId3"/>
          <a:srcRect/>
          <a:stretch>
            <a:fillRect/>
          </a:stretch>
        </p:blipFill>
        <p:spPr bwMode="auto">
          <a:xfrm>
            <a:off x="1829270" y="3781762"/>
            <a:ext cx="5448300" cy="6953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ype de bois">
  <a:themeElements>
    <a:clrScheme name="Type de bois">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Type de bois">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ype de bois">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TM03090434[[fn=Type de bois]]</Template>
  <TotalTime>2373</TotalTime>
  <Words>202</Words>
  <Application>Microsoft Office PowerPoint</Application>
  <PresentationFormat>Personnalisé</PresentationFormat>
  <Paragraphs>29</Paragraphs>
  <Slides>7</Slides>
  <Notes>0</Notes>
  <HiddenSlides>0</HiddenSlides>
  <MMClips>0</MMClips>
  <ScaleCrop>false</ScaleCrop>
  <HeadingPairs>
    <vt:vector size="4" baseType="variant">
      <vt:variant>
        <vt:lpstr>Thème</vt:lpstr>
      </vt:variant>
      <vt:variant>
        <vt:i4>1</vt:i4>
      </vt:variant>
      <vt:variant>
        <vt:lpstr>Titres des diapositives</vt:lpstr>
      </vt:variant>
      <vt:variant>
        <vt:i4>7</vt:i4>
      </vt:variant>
    </vt:vector>
  </HeadingPairs>
  <TitlesOfParts>
    <vt:vector size="8" baseType="lpstr">
      <vt:lpstr>Type de bois</vt:lpstr>
      <vt:lpstr>LMD(Data Manipulation Language)</vt:lpstr>
      <vt:lpstr>Diapositive 2</vt:lpstr>
      <vt:lpstr>Diapositive 3</vt:lpstr>
      <vt:lpstr>Diapositive 4</vt:lpstr>
      <vt:lpstr>Diapositive 5</vt:lpstr>
      <vt:lpstr>Diapositive 6</vt:lpstr>
      <vt:lpstr>Diapositive 7</vt:lpstr>
    </vt:vector>
  </TitlesOfParts>
  <Company>Cirad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Genie Logiciel</dc:title>
  <dc:creator>Jerome Queste</dc:creator>
  <cp:lastModifiedBy>E</cp:lastModifiedBy>
  <cp:revision>276</cp:revision>
  <dcterms:created xsi:type="dcterms:W3CDTF">2016-09-07T16:54:49Z</dcterms:created>
  <dcterms:modified xsi:type="dcterms:W3CDTF">2021-08-03T05:41:30Z</dcterms:modified>
</cp:coreProperties>
</file>