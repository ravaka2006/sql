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9"/>
  </p:notesMasterIdLst>
  <p:sldIdLst>
    <p:sldId id="402" r:id="rId2"/>
    <p:sldId id="403" r:id="rId3"/>
    <p:sldId id="404" r:id="rId4"/>
    <p:sldId id="405" r:id="rId5"/>
    <p:sldId id="406" r:id="rId6"/>
    <p:sldId id="410" r:id="rId7"/>
    <p:sldId id="411" r:id="rId8"/>
    <p:sldId id="412" r:id="rId9"/>
    <p:sldId id="413" r:id="rId10"/>
    <p:sldId id="409" r:id="rId11"/>
    <p:sldId id="408" r:id="rId12"/>
    <p:sldId id="414" r:id="rId13"/>
    <p:sldId id="415" r:id="rId14"/>
    <p:sldId id="416" r:id="rId15"/>
    <p:sldId id="417" r:id="rId16"/>
    <p:sldId id="418" r:id="rId17"/>
    <p:sldId id="419" r:id="rId18"/>
    <p:sldId id="420" r:id="rId19"/>
    <p:sldId id="430" r:id="rId20"/>
    <p:sldId id="421" r:id="rId21"/>
    <p:sldId id="423" r:id="rId22"/>
    <p:sldId id="424" r:id="rId23"/>
    <p:sldId id="425" r:id="rId24"/>
    <p:sldId id="426" r:id="rId25"/>
    <p:sldId id="427" r:id="rId26"/>
    <p:sldId id="428" r:id="rId27"/>
    <p:sldId id="429" r:id="rId2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53" autoAdjust="0"/>
    <p:restoredTop sz="94624" autoAdjust="0"/>
  </p:normalViewPr>
  <p:slideViewPr>
    <p:cSldViewPr snapToGrid="0">
      <p:cViewPr>
        <p:scale>
          <a:sx n="60" d="100"/>
          <a:sy n="60" d="100"/>
        </p:scale>
        <p:origin x="-990" y="-19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43155B-2698-4E75-990E-43582F47F256}" type="datetimeFigureOut">
              <a:rPr lang="x-none" smtClean="0"/>
              <a:pPr/>
              <a:t>28/02/2023</a:t>
            </a:fld>
            <a:endParaRPr lang="x-non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x-non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A7646F-D579-441F-9534-C8C052878CA4}" type="slidenum">
              <a:rPr lang="x-none" smtClean="0"/>
              <a:pPr/>
              <a:t>‹N°›</a:t>
            </a:fld>
            <a:endParaRPr lang="x-none"/>
          </a:p>
        </p:txBody>
      </p:sp>
    </p:spTree>
    <p:extLst>
      <p:ext uri="{BB962C8B-B14F-4D97-AF65-F5344CB8AC3E}">
        <p14:creationId xmlns:p14="http://schemas.microsoft.com/office/powerpoint/2010/main" xmlns="" val="658488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5AA7646F-D579-441F-9534-C8C052878CA4}" type="slidenum">
              <a:rPr lang="x-none" smtClean="0"/>
              <a:pPr/>
              <a:t>8</a:t>
            </a:fld>
            <a:endParaRPr lang="x-non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5AA7646F-D579-441F-9534-C8C052878CA4}" type="slidenum">
              <a:rPr lang="x-none" smtClean="0"/>
              <a:pPr/>
              <a:t>9</a:t>
            </a:fld>
            <a:endParaRPr lang="x-none"/>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cstate="print">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cstate="print">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cstate="print">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fr-FR"/>
              <a:t>Modifiez le style du titre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45F9597-7059-47EE-95F2-CA44BC3CD0B9}" type="datetimeFigureOut">
              <a:rPr lang="fr-FR" smtClean="0"/>
              <a:pPr/>
              <a:t>28/02/2023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1359054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45F9597-7059-47EE-95F2-CA44BC3CD0B9}" type="datetimeFigureOut">
              <a:rPr lang="fr-FR" smtClean="0"/>
              <a:pPr/>
              <a:t>28/02/2023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2156471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cstate="print">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fr-FR"/>
              <a:t>Modifiez le style du titre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a:xfrm>
            <a:off x="8593667" y="6272784"/>
            <a:ext cx="2644309" cy="365125"/>
          </a:xfrm>
        </p:spPr>
        <p:txBody>
          <a:bodyPr/>
          <a:lstStyle/>
          <a:p>
            <a:fld id="{645F9597-7059-47EE-95F2-CA44BC3CD0B9}" type="datetimeFigureOut">
              <a:rPr lang="fr-FR" smtClean="0"/>
              <a:pPr/>
              <a:t>28/02/2023</a:t>
            </a:fld>
            <a:endParaRPr lang="fr-FR"/>
          </a:p>
        </p:txBody>
      </p:sp>
      <p:sp>
        <p:nvSpPr>
          <p:cNvPr id="5" name="Footer Placeholder 4"/>
          <p:cNvSpPr>
            <a:spLocks noGrp="1"/>
          </p:cNvSpPr>
          <p:nvPr>
            <p:ph type="ftr" sz="quarter" idx="11"/>
          </p:nvPr>
        </p:nvSpPr>
        <p:spPr>
          <a:xfrm>
            <a:off x="2182708" y="6272784"/>
            <a:ext cx="6327648" cy="365125"/>
          </a:xfrm>
        </p:spPr>
        <p:txBody>
          <a:bodyPr/>
          <a:lstStyle/>
          <a:p>
            <a:endParaRPr lang="fr-F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620427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45F9597-7059-47EE-95F2-CA44BC3CD0B9}" type="datetimeFigureOut">
              <a:rPr lang="fr-FR" smtClean="0"/>
              <a:pPr/>
              <a:t>28/02/2023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3404188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45F9597-7059-47EE-95F2-CA44BC3CD0B9}" type="datetimeFigureOut">
              <a:rPr lang="fr-FR" smtClean="0"/>
              <a:pPr/>
              <a:t>28/02/2023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3760828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45F9597-7059-47EE-95F2-CA44BC3CD0B9}" type="datetimeFigureOut">
              <a:rPr lang="fr-FR" smtClean="0"/>
              <a:pPr/>
              <a:t>28/02/2023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367781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5F9597-7059-47EE-95F2-CA44BC3CD0B9}" type="datetimeFigureOut">
              <a:rPr lang="fr-FR" smtClean="0"/>
              <a:pPr/>
              <a:t>28/02/2023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2978408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cstate="print">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645F9597-7059-47EE-95F2-CA44BC3CD0B9}" type="datetimeFigureOut">
              <a:rPr lang="fr-FR" smtClean="0"/>
              <a:pPr/>
              <a:t>28/02/2023</a:t>
            </a:fld>
            <a:endParaRPr lang="fr-FR"/>
          </a:p>
        </p:txBody>
      </p:sp>
      <p:sp>
        <p:nvSpPr>
          <p:cNvPr id="6" name="Footer Placeholder 5"/>
          <p:cNvSpPr>
            <a:spLocks noGrp="1"/>
          </p:cNvSpPr>
          <p:nvPr>
            <p:ph type="ftr" sz="quarter" idx="11"/>
          </p:nvPr>
        </p:nvSpPr>
        <p:spPr/>
        <p:txBody>
          <a:bodyPr/>
          <a:lstStyle/>
          <a:p>
            <a:endParaRPr lang="fr-F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176176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cstate="print">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smtClean="0"/>
              <a:t>Cliquez </a:t>
            </a:r>
            <a:r>
              <a:rPr lang="fr-FR"/>
              <a:t>sur </a:t>
            </a:r>
            <a:r>
              <a:rPr lang="fr-FR" smtClean="0"/>
              <a:t>l icône </a:t>
            </a:r>
            <a:r>
              <a:rPr lang="fr-FR" dirty="0"/>
              <a:t>pour </a:t>
            </a:r>
            <a:r>
              <a:rPr lang="fr-FR" dirty="0" smtClean="0"/>
              <a:t>ajouter une image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645F9597-7059-47EE-95F2-CA44BC3CD0B9}" type="datetimeFigureOut">
              <a:rPr lang="fr-FR" smtClean="0"/>
              <a:pPr/>
              <a:t>28/02/2023</a:t>
            </a:fld>
            <a:endParaRPr lang="fr-F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3045602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45F9597-7059-47EE-95F2-CA44BC3CD0B9}" type="datetimeFigureOut">
              <a:rPr lang="fr-FR" smtClean="0"/>
              <a:pPr/>
              <a:t>28/02/2023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31995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45F9597-7059-47EE-95F2-CA44BC3CD0B9}" type="datetimeFigureOut">
              <a:rPr lang="fr-FR" smtClean="0"/>
              <a:pPr/>
              <a:t>28/02/2023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1678084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45F9597-7059-47EE-95F2-CA44BC3CD0B9}" type="datetimeFigureOut">
              <a:rPr lang="fr-FR" smtClean="0"/>
              <a:pPr/>
              <a:t>28/02/2023</a:t>
            </a:fld>
            <a:endParaRPr lang="fr-F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fr-F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cstate="print">
                <a:duotone>
                  <a:schemeClr val="accent1">
                    <a:shade val="45000"/>
                    <a:satMod val="135000"/>
                  </a:schemeClr>
                  <a:prstClr val="white"/>
                </a:duotone>
                <a:extLst>
                  <a:ext uri="{BEBA8EAE-BF5A-486C-A8C5-ECC9F3942E4B}">
                    <a14:imgProps xmlns:a14="http://schemas.microsoft.com/office/drawing/2010/main" xmlns="">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74C99C63-A67C-4468-87A2-B4CF5B44918A}" type="slidenum">
              <a:rPr lang="fr-FR" smtClean="0"/>
              <a:pPr/>
              <a:t>‹N°›</a:t>
            </a:fld>
            <a:endParaRPr lang="fr-FR"/>
          </a:p>
        </p:txBody>
      </p:sp>
    </p:spTree>
    <p:extLst>
      <p:ext uri="{BB962C8B-B14F-4D97-AF65-F5344CB8AC3E}">
        <p14:creationId xmlns:p14="http://schemas.microsoft.com/office/powerpoint/2010/main" xmlns="" val="147350924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xmlns=""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 xmlns:a16="http://schemas.microsoft.com/office/drawing/2014/main" id="{59E86273-66FB-4801-A4B3-A895DFAD1165}"/>
              </a:ext>
            </a:extLst>
          </p:cNvPr>
          <p:cNvSpPr>
            <a:spLocks noGrp="1"/>
          </p:cNvSpPr>
          <p:nvPr>
            <p:ph type="title"/>
          </p:nvPr>
        </p:nvSpPr>
        <p:spPr>
          <a:xfrm>
            <a:off x="2434414" y="1394122"/>
            <a:ext cx="9757586" cy="3520440"/>
          </a:xfrm>
        </p:spPr>
        <p:txBody>
          <a:bodyPr>
            <a:normAutofit/>
          </a:bodyPr>
          <a:lstStyle/>
          <a:p>
            <a:r>
              <a:rPr lang="fr-FR" sz="4400" dirty="0" smtClean="0"/>
              <a:t>LMD(Data Manipulation </a:t>
            </a:r>
            <a:r>
              <a:rPr lang="fr-FR" sz="4400" dirty="0" err="1" smtClean="0"/>
              <a:t>Language</a:t>
            </a:r>
            <a:r>
              <a:rPr lang="fr-FR" sz="4400" dirty="0" smtClean="0"/>
              <a:t>)</a:t>
            </a:r>
            <a:endParaRPr lang="x-none" sz="4400" dirty="0"/>
          </a:p>
        </p:txBody>
      </p:sp>
      <p:sp>
        <p:nvSpPr>
          <p:cNvPr id="6" name="Espace réservé du texte 5"/>
          <p:cNvSpPr>
            <a:spLocks noGrp="1"/>
          </p:cNvSpPr>
          <p:nvPr>
            <p:ph type="body" idx="1"/>
          </p:nvPr>
        </p:nvSpPr>
        <p:spPr/>
        <p:txBody>
          <a:bodyPr/>
          <a:lstStyle/>
          <a:p>
            <a:r>
              <a:rPr lang="fr-FR" dirty="0" smtClean="0"/>
              <a:t>Suite(1)</a:t>
            </a:r>
            <a:endParaRPr lang="fr-FR" dirty="0"/>
          </a:p>
        </p:txBody>
      </p:sp>
    </p:spTree>
    <p:extLst>
      <p:ext uri="{BB962C8B-B14F-4D97-AF65-F5344CB8AC3E}">
        <p14:creationId xmlns="" xmlns:p14="http://schemas.microsoft.com/office/powerpoint/2010/main" val="28001950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400" dirty="0" smtClean="0"/>
              <a:t>LMD</a:t>
            </a:r>
            <a:endParaRPr lang="fr-FR" sz="4400" dirty="0"/>
          </a:p>
        </p:txBody>
      </p:sp>
      <p:sp>
        <p:nvSpPr>
          <p:cNvPr id="3" name="Espace réservé du contenu 2"/>
          <p:cNvSpPr>
            <a:spLocks noGrp="1"/>
          </p:cNvSpPr>
          <p:nvPr>
            <p:ph idx="1"/>
          </p:nvPr>
        </p:nvSpPr>
        <p:spPr>
          <a:xfrm>
            <a:off x="929186" y="1758458"/>
            <a:ext cx="10226493" cy="4986998"/>
          </a:xfrm>
        </p:spPr>
        <p:txBody>
          <a:bodyPr>
            <a:noAutofit/>
          </a:bodyPr>
          <a:lstStyle/>
          <a:p>
            <a:pPr>
              <a:lnSpc>
                <a:spcPct val="150000"/>
              </a:lnSpc>
            </a:pPr>
            <a:r>
              <a:rPr lang="fr-FR" sz="3200" dirty="0" smtClean="0"/>
              <a:t>Insertion des enregistrements</a:t>
            </a:r>
          </a:p>
          <a:p>
            <a:pPr>
              <a:lnSpc>
                <a:spcPct val="150000"/>
              </a:lnSpc>
            </a:pPr>
            <a:r>
              <a:rPr lang="fr-FR" sz="3200" dirty="0" smtClean="0"/>
              <a:t>Sélection ou Affichage</a:t>
            </a:r>
          </a:p>
          <a:p>
            <a:pPr>
              <a:lnSpc>
                <a:spcPct val="150000"/>
              </a:lnSpc>
            </a:pPr>
            <a:r>
              <a:rPr lang="fr-FR" sz="3200" dirty="0" smtClean="0"/>
              <a:t>Modification</a:t>
            </a:r>
          </a:p>
          <a:p>
            <a:pPr>
              <a:lnSpc>
                <a:spcPct val="150000"/>
              </a:lnSpc>
            </a:pPr>
            <a:r>
              <a:rPr lang="fr-FR" sz="3200" dirty="0" smtClean="0"/>
              <a:t>Suppression</a:t>
            </a:r>
          </a:p>
          <a:p>
            <a:pPr>
              <a:lnSpc>
                <a:spcPct val="150000"/>
              </a:lnSpc>
            </a:pPr>
            <a:r>
              <a:rPr lang="fr-FR" sz="3200" dirty="0" smtClean="0"/>
              <a:t>Jointures</a:t>
            </a:r>
          </a:p>
          <a:p>
            <a:pPr>
              <a:lnSpc>
                <a:spcPct val="150000"/>
              </a:lnSpc>
            </a:pPr>
            <a:r>
              <a:rPr lang="fr-FR" sz="3200" dirty="0" smtClean="0"/>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lvl="0">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INSERT</a:t>
            </a:r>
            <a:endParaRPr lang="fr-FR" sz="4400" cap="all" dirty="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5" name="ZoneTexte 4"/>
          <p:cNvSpPr txBox="1"/>
          <p:nvPr/>
        </p:nvSpPr>
        <p:spPr>
          <a:xfrm>
            <a:off x="1103585" y="2065283"/>
            <a:ext cx="10294883" cy="4031873"/>
          </a:xfrm>
          <a:prstGeom prst="rect">
            <a:avLst/>
          </a:prstGeom>
          <a:noFill/>
        </p:spPr>
        <p:txBody>
          <a:bodyPr wrap="square" rtlCol="0">
            <a:spAutoFit/>
          </a:bodyPr>
          <a:lstStyle/>
          <a:p>
            <a:endParaRPr lang="fr-FR" sz="3200" dirty="0" smtClean="0"/>
          </a:p>
          <a:p>
            <a:r>
              <a:rPr lang="fr-FR" sz="3200" dirty="0" smtClean="0"/>
              <a:t>-L’insertion de données dans une table s’effectue à l’aide de la commande INSERT INTO. </a:t>
            </a:r>
          </a:p>
          <a:p>
            <a:endParaRPr lang="fr-FR" sz="3200" dirty="0" smtClean="0"/>
          </a:p>
          <a:p>
            <a:r>
              <a:rPr lang="fr-FR" sz="3200" dirty="0" smtClean="0"/>
              <a:t>-Cette commande permet au choix d’inclure une seule ligne à la base existante ou plusieurs lignes d’un coup.</a:t>
            </a:r>
          </a:p>
          <a:p>
            <a:endParaRPr lang="fr-FR" sz="3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lvl="0">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INSERT</a:t>
            </a:r>
            <a:endParaRPr lang="fr-FR" sz="4400" cap="all" dirty="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5" name="ZoneTexte 4"/>
          <p:cNvSpPr txBox="1"/>
          <p:nvPr/>
        </p:nvSpPr>
        <p:spPr>
          <a:xfrm>
            <a:off x="1103585" y="2033752"/>
            <a:ext cx="11303877" cy="2554545"/>
          </a:xfrm>
          <a:prstGeom prst="rect">
            <a:avLst/>
          </a:prstGeom>
          <a:noFill/>
        </p:spPr>
        <p:txBody>
          <a:bodyPr wrap="square" rtlCol="0">
            <a:spAutoFit/>
          </a:bodyPr>
          <a:lstStyle/>
          <a:p>
            <a:endParaRPr lang="fr-FR" sz="3200" dirty="0" smtClean="0"/>
          </a:p>
          <a:p>
            <a:r>
              <a:rPr lang="fr-FR" sz="3200" dirty="0" smtClean="0"/>
              <a:t>-</a:t>
            </a:r>
            <a:r>
              <a:rPr lang="fr-FR" sz="3200" b="1" dirty="0" smtClean="0"/>
              <a:t> Insérer une ligne en spécifiant les valeurs de toutes les colonnes existantes.</a:t>
            </a:r>
            <a:endParaRPr lang="fr-FR" sz="3200" dirty="0" smtClean="0"/>
          </a:p>
          <a:p>
            <a:endParaRPr lang="fr-FR" sz="3200" dirty="0" smtClean="0"/>
          </a:p>
          <a:p>
            <a:endParaRPr lang="fr-FR" sz="3200" dirty="0"/>
          </a:p>
        </p:txBody>
      </p:sp>
      <p:pic>
        <p:nvPicPr>
          <p:cNvPr id="4" name="Picture 3"/>
          <p:cNvPicPr>
            <a:picLocks noChangeAspect="1" noChangeArrowheads="1"/>
          </p:cNvPicPr>
          <p:nvPr/>
        </p:nvPicPr>
        <p:blipFill>
          <a:blip r:embed="rId3"/>
          <a:srcRect/>
          <a:stretch>
            <a:fillRect/>
          </a:stretch>
        </p:blipFill>
        <p:spPr bwMode="auto">
          <a:xfrm>
            <a:off x="1450428" y="3643315"/>
            <a:ext cx="8339958" cy="1275529"/>
          </a:xfrm>
          <a:prstGeom prst="rect">
            <a:avLst/>
          </a:prstGeom>
          <a:noFill/>
          <a:ln w="9525">
            <a:noFill/>
            <a:miter lim="800000"/>
            <a:headEnd/>
            <a:tailEnd/>
          </a:ln>
          <a:effectLst/>
        </p:spPr>
      </p:pic>
      <p:sp>
        <p:nvSpPr>
          <p:cNvPr id="6" name="ZoneTexte 5"/>
          <p:cNvSpPr txBox="1"/>
          <p:nvPr/>
        </p:nvSpPr>
        <p:spPr>
          <a:xfrm>
            <a:off x="1072056" y="5123787"/>
            <a:ext cx="11119944" cy="1015663"/>
          </a:xfrm>
          <a:prstGeom prst="rect">
            <a:avLst/>
          </a:prstGeom>
          <a:noFill/>
        </p:spPr>
        <p:txBody>
          <a:bodyPr wrap="square" rtlCol="0">
            <a:spAutoFit/>
          </a:bodyPr>
          <a:lstStyle/>
          <a:p>
            <a:r>
              <a:rPr lang="fr-FR" sz="2000" b="1" dirty="0" smtClean="0"/>
              <a:t>Exemple :</a:t>
            </a:r>
          </a:p>
          <a:p>
            <a:endParaRPr lang="fr-FR" sz="2000" b="1" dirty="0" smtClean="0"/>
          </a:p>
          <a:p>
            <a:r>
              <a:rPr lang="fr-FR" sz="2000" dirty="0" smtClean="0"/>
              <a:t>Insert </a:t>
            </a:r>
            <a:r>
              <a:rPr lang="fr-FR" sz="2000" dirty="0" err="1" smtClean="0"/>
              <a:t>into</a:t>
            </a:r>
            <a:r>
              <a:rPr lang="fr-FR" sz="2000" dirty="0" smtClean="0"/>
              <a:t> client values(1,’RAKOTO’,’Lot IB1342’,’Antananarivo’,’1’,’111111’,’1990-01-02’);</a:t>
            </a:r>
            <a:endParaRPr lang="fr-FR"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lvl="0">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INSERT</a:t>
            </a:r>
            <a:endParaRPr lang="fr-FR" sz="4400" cap="all" dirty="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5" name="ZoneTexte 4"/>
          <p:cNvSpPr txBox="1"/>
          <p:nvPr/>
        </p:nvSpPr>
        <p:spPr>
          <a:xfrm>
            <a:off x="1103585" y="2033752"/>
            <a:ext cx="10294883" cy="2308324"/>
          </a:xfrm>
          <a:prstGeom prst="rect">
            <a:avLst/>
          </a:prstGeom>
          <a:noFill/>
        </p:spPr>
        <p:txBody>
          <a:bodyPr wrap="square" rtlCol="0">
            <a:spAutoFit/>
          </a:bodyPr>
          <a:lstStyle/>
          <a:p>
            <a:endParaRPr lang="fr-FR" sz="2400" dirty="0" smtClean="0"/>
          </a:p>
          <a:p>
            <a:r>
              <a:rPr lang="fr-FR" sz="2400" dirty="0" smtClean="0"/>
              <a:t>-</a:t>
            </a:r>
            <a:r>
              <a:rPr lang="fr-FR" sz="2400" b="1" dirty="0" smtClean="0"/>
              <a:t> Insérer une ligne en spécifiant seulement les colonnes souhaitées(Colonnes obligatoires)</a:t>
            </a:r>
          </a:p>
          <a:p>
            <a:endParaRPr lang="fr-FR" sz="2400" dirty="0" smtClean="0"/>
          </a:p>
          <a:p>
            <a:endParaRPr lang="fr-FR" sz="2400" dirty="0" smtClean="0"/>
          </a:p>
          <a:p>
            <a:endParaRPr lang="fr-FR" sz="2400" dirty="0"/>
          </a:p>
        </p:txBody>
      </p:sp>
      <p:pic>
        <p:nvPicPr>
          <p:cNvPr id="6" name="Picture 2"/>
          <p:cNvPicPr>
            <a:picLocks noChangeAspect="1" noChangeArrowheads="1"/>
          </p:cNvPicPr>
          <p:nvPr/>
        </p:nvPicPr>
        <p:blipFill>
          <a:blip r:embed="rId3"/>
          <a:srcRect/>
          <a:stretch>
            <a:fillRect/>
          </a:stretch>
        </p:blipFill>
        <p:spPr bwMode="auto">
          <a:xfrm>
            <a:off x="1109239" y="3433931"/>
            <a:ext cx="10210950" cy="1374551"/>
          </a:xfrm>
          <a:prstGeom prst="rect">
            <a:avLst/>
          </a:prstGeom>
          <a:noFill/>
          <a:ln w="9525">
            <a:noFill/>
            <a:miter lim="800000"/>
            <a:headEnd/>
            <a:tailEnd/>
          </a:ln>
          <a:effectLst/>
        </p:spPr>
      </p:pic>
      <p:sp>
        <p:nvSpPr>
          <p:cNvPr id="7" name="ZoneTexte 6"/>
          <p:cNvSpPr txBox="1"/>
          <p:nvPr/>
        </p:nvSpPr>
        <p:spPr>
          <a:xfrm>
            <a:off x="1229702" y="5013434"/>
            <a:ext cx="10452545" cy="1200329"/>
          </a:xfrm>
          <a:prstGeom prst="rect">
            <a:avLst/>
          </a:prstGeom>
          <a:noFill/>
        </p:spPr>
        <p:txBody>
          <a:bodyPr wrap="square" rtlCol="0">
            <a:spAutoFit/>
          </a:bodyPr>
          <a:lstStyle/>
          <a:p>
            <a:r>
              <a:rPr lang="fr-FR" b="1" dirty="0" smtClean="0"/>
              <a:t>Exemple :</a:t>
            </a:r>
          </a:p>
          <a:p>
            <a:endParaRPr lang="fr-FR" b="1" dirty="0" smtClean="0"/>
          </a:p>
          <a:p>
            <a:r>
              <a:rPr lang="fr-FR" dirty="0" smtClean="0"/>
              <a:t>Insert </a:t>
            </a:r>
            <a:r>
              <a:rPr lang="fr-FR" dirty="0" err="1" smtClean="0"/>
              <a:t>into</a:t>
            </a:r>
            <a:r>
              <a:rPr lang="fr-FR" dirty="0" smtClean="0"/>
              <a:t> client(</a:t>
            </a:r>
            <a:r>
              <a:rPr lang="fr-FR" dirty="0" err="1" smtClean="0"/>
              <a:t>ncli,nom,adresse,localite,compte,datenaiss</a:t>
            </a:r>
            <a:r>
              <a:rPr lang="fr-FR" dirty="0" smtClean="0"/>
              <a:t>) values(3,’RAVAO’,’Lot IB1456’,’Antananarivo’,’22222’,’1993-04-28’);</a:t>
            </a:r>
            <a:endParaRPr lang="fr-F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SELECT</a:t>
            </a:r>
            <a:endPar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5" name="ZoneTexte 4"/>
          <p:cNvSpPr txBox="1"/>
          <p:nvPr/>
        </p:nvSpPr>
        <p:spPr>
          <a:xfrm>
            <a:off x="1103585" y="2033752"/>
            <a:ext cx="10294883" cy="4616648"/>
          </a:xfrm>
          <a:prstGeom prst="rect">
            <a:avLst/>
          </a:prstGeom>
          <a:noFill/>
        </p:spPr>
        <p:txBody>
          <a:bodyPr wrap="square" rtlCol="0">
            <a:spAutoFit/>
          </a:bodyPr>
          <a:lstStyle/>
          <a:p>
            <a:pPr algn="just">
              <a:buNone/>
            </a:pPr>
            <a:r>
              <a:rPr lang="fr-FR" sz="3200" dirty="0" smtClean="0"/>
              <a:t>L’utilisation la plus courante de SQL consiste à lire des données issues de la base de données.</a:t>
            </a:r>
          </a:p>
          <a:p>
            <a:pPr algn="just">
              <a:buNone/>
            </a:pPr>
            <a:endParaRPr lang="fr-FR" sz="3200" dirty="0" smtClean="0"/>
          </a:p>
          <a:p>
            <a:pPr algn="just">
              <a:buNone/>
            </a:pPr>
            <a:endParaRPr lang="fr-FR" sz="3200" dirty="0" smtClean="0"/>
          </a:p>
          <a:p>
            <a:pPr algn="just">
              <a:buNone/>
            </a:pPr>
            <a:r>
              <a:rPr lang="fr-FR" sz="3200" dirty="0" smtClean="0"/>
              <a:t> Cela s’effectue grâce à la commande SELECT, qui retourne des enregistrements dans un tableau de résultat. Cette commande peut sélectionner une ou plusieurs colonnes d’une table.</a:t>
            </a:r>
          </a:p>
          <a:p>
            <a:endParaRPr lang="fr-FR" sz="2000" dirty="0" smtClean="0"/>
          </a:p>
          <a:p>
            <a:endParaRPr lang="fr-F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SELECT</a:t>
            </a:r>
            <a:endPar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5" name="ZoneTexte 4"/>
          <p:cNvSpPr txBox="1"/>
          <p:nvPr/>
        </p:nvSpPr>
        <p:spPr>
          <a:xfrm>
            <a:off x="1103585" y="2033752"/>
            <a:ext cx="10294883" cy="1661993"/>
          </a:xfrm>
          <a:prstGeom prst="rect">
            <a:avLst/>
          </a:prstGeom>
          <a:noFill/>
        </p:spPr>
        <p:txBody>
          <a:bodyPr wrap="square" rtlCol="0">
            <a:spAutoFit/>
          </a:bodyPr>
          <a:lstStyle/>
          <a:p>
            <a:r>
              <a:rPr lang="fr-FR" sz="3200" dirty="0" smtClean="0"/>
              <a:t>-L’utilisation basique de cette commande s’effectue de la manière suivante :</a:t>
            </a:r>
          </a:p>
          <a:p>
            <a:endParaRPr lang="fr-FR" sz="2000" dirty="0" smtClean="0"/>
          </a:p>
          <a:p>
            <a:endParaRPr lang="fr-FR" dirty="0"/>
          </a:p>
        </p:txBody>
      </p:sp>
      <p:sp>
        <p:nvSpPr>
          <p:cNvPr id="8" name="Rectangle 7"/>
          <p:cNvSpPr/>
          <p:nvPr/>
        </p:nvSpPr>
        <p:spPr>
          <a:xfrm>
            <a:off x="1307543" y="3055147"/>
            <a:ext cx="1142300" cy="369332"/>
          </a:xfrm>
          <a:prstGeom prst="rect">
            <a:avLst/>
          </a:prstGeom>
        </p:spPr>
        <p:txBody>
          <a:bodyPr wrap="none">
            <a:spAutoFit/>
          </a:bodyPr>
          <a:lstStyle/>
          <a:p>
            <a:pPr>
              <a:buNone/>
            </a:pPr>
            <a:r>
              <a:rPr lang="fr-FR" b="1" dirty="0" smtClean="0"/>
              <a:t>Syntaxe:</a:t>
            </a:r>
            <a:endParaRPr lang="fr-FR" b="1" dirty="0"/>
          </a:p>
        </p:txBody>
      </p:sp>
      <p:pic>
        <p:nvPicPr>
          <p:cNvPr id="6" name="Picture 3"/>
          <p:cNvPicPr>
            <a:picLocks noChangeAspect="1" noChangeArrowheads="1"/>
          </p:cNvPicPr>
          <p:nvPr/>
        </p:nvPicPr>
        <p:blipFill>
          <a:blip r:embed="rId3"/>
          <a:srcRect/>
          <a:stretch>
            <a:fillRect/>
          </a:stretch>
        </p:blipFill>
        <p:spPr bwMode="auto">
          <a:xfrm>
            <a:off x="1245925" y="3683705"/>
            <a:ext cx="10073716" cy="1266667"/>
          </a:xfrm>
          <a:prstGeom prst="rect">
            <a:avLst/>
          </a:prstGeom>
          <a:noFill/>
          <a:ln w="9525">
            <a:noFill/>
            <a:miter lim="800000"/>
            <a:headEnd/>
            <a:tailEnd/>
          </a:ln>
          <a:effectLst/>
        </p:spPr>
      </p:pic>
      <p:sp>
        <p:nvSpPr>
          <p:cNvPr id="7" name="ZoneTexte 6"/>
          <p:cNvSpPr txBox="1"/>
          <p:nvPr/>
        </p:nvSpPr>
        <p:spPr>
          <a:xfrm>
            <a:off x="1198172" y="4950366"/>
            <a:ext cx="10074166" cy="1292662"/>
          </a:xfrm>
          <a:prstGeom prst="rect">
            <a:avLst/>
          </a:prstGeom>
          <a:noFill/>
        </p:spPr>
        <p:txBody>
          <a:bodyPr wrap="square" rtlCol="0">
            <a:spAutoFit/>
          </a:bodyPr>
          <a:lstStyle/>
          <a:p>
            <a:r>
              <a:rPr lang="fr-FR" sz="2800" b="1" dirty="0" smtClean="0"/>
              <a:t>Exemple :</a:t>
            </a:r>
          </a:p>
          <a:p>
            <a:endParaRPr lang="fr-FR" b="1" dirty="0" smtClean="0"/>
          </a:p>
          <a:p>
            <a:r>
              <a:rPr lang="fr-FR" sz="3200" dirty="0" smtClean="0"/>
              <a:t>SELECT nom </a:t>
            </a:r>
            <a:r>
              <a:rPr lang="fr-FR" sz="3200" dirty="0" err="1" smtClean="0"/>
              <a:t>from</a:t>
            </a:r>
            <a:r>
              <a:rPr lang="fr-FR" sz="3200" dirty="0" smtClean="0"/>
              <a:t> client;</a:t>
            </a:r>
            <a:endParaRPr lang="fr-FR" sz="3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3">
                    <a:extLst>
                      <a:ext uri="{28A0092B-C50C-407E-A947-70E740481C1C}">
                        <a14:useLocalDpi xmlns:a14="http://schemas.microsoft.com/office/drawing/2010/main" xmlns="" val="0"/>
                      </a:ext>
                    </a:extLst>
                  </a:blip>
                  <a:tile tx="6350" ty="-127000" sx="65000" sy="64000" flip="none" algn="tl"/>
                </a:blipFill>
                <a:latin typeface="+mj-lt"/>
                <a:ea typeface="+mj-ea"/>
                <a:cs typeface="+mj-cs"/>
              </a:rPr>
              <a:t>SELECT</a:t>
            </a:r>
            <a:endParaRPr lang="fr-FR" sz="4400" cap="all" dirty="0" smtClean="0">
              <a:blipFill>
                <a:blip r:embed="rId3">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5" name="ZoneTexte 4"/>
          <p:cNvSpPr txBox="1"/>
          <p:nvPr/>
        </p:nvSpPr>
        <p:spPr>
          <a:xfrm>
            <a:off x="1103585" y="2033752"/>
            <a:ext cx="10294883" cy="2062103"/>
          </a:xfrm>
          <a:prstGeom prst="rect">
            <a:avLst/>
          </a:prstGeom>
          <a:noFill/>
        </p:spPr>
        <p:txBody>
          <a:bodyPr wrap="square" rtlCol="0">
            <a:spAutoFit/>
          </a:bodyPr>
          <a:lstStyle/>
          <a:p>
            <a:r>
              <a:rPr lang="fr-FR" sz="3200" dirty="0" smtClean="0"/>
              <a:t>- Obtenir plusieurs colonnes </a:t>
            </a:r>
          </a:p>
          <a:p>
            <a:endParaRPr lang="fr-FR" sz="3200" dirty="0" smtClean="0"/>
          </a:p>
          <a:p>
            <a:endParaRPr lang="fr-FR" sz="3200" dirty="0" smtClean="0"/>
          </a:p>
          <a:p>
            <a:endParaRPr lang="fr-FR" sz="3200" dirty="0"/>
          </a:p>
        </p:txBody>
      </p:sp>
      <p:sp>
        <p:nvSpPr>
          <p:cNvPr id="8" name="Rectangle 7"/>
          <p:cNvSpPr/>
          <p:nvPr/>
        </p:nvSpPr>
        <p:spPr>
          <a:xfrm>
            <a:off x="1827821" y="3055147"/>
            <a:ext cx="1884875" cy="584775"/>
          </a:xfrm>
          <a:prstGeom prst="rect">
            <a:avLst/>
          </a:prstGeom>
        </p:spPr>
        <p:txBody>
          <a:bodyPr wrap="none">
            <a:spAutoFit/>
          </a:bodyPr>
          <a:lstStyle/>
          <a:p>
            <a:pPr>
              <a:buNone/>
            </a:pPr>
            <a:r>
              <a:rPr lang="fr-FR" sz="3200" b="1" dirty="0" smtClean="0"/>
              <a:t>Syntaxe:</a:t>
            </a:r>
            <a:endParaRPr lang="fr-FR" sz="3200" b="1" dirty="0"/>
          </a:p>
        </p:txBody>
      </p:sp>
      <p:sp>
        <p:nvSpPr>
          <p:cNvPr id="7" name="Rectangle 6"/>
          <p:cNvSpPr/>
          <p:nvPr/>
        </p:nvSpPr>
        <p:spPr>
          <a:xfrm>
            <a:off x="1966995" y="3874955"/>
            <a:ext cx="9401548" cy="584775"/>
          </a:xfrm>
          <a:prstGeom prst="rect">
            <a:avLst/>
          </a:prstGeom>
        </p:spPr>
        <p:txBody>
          <a:bodyPr wrap="none">
            <a:spAutoFit/>
          </a:bodyPr>
          <a:lstStyle/>
          <a:p>
            <a:r>
              <a:rPr lang="fr-FR" sz="3200" dirty="0" smtClean="0"/>
              <a:t>SELECT nom_champ1,nom_champ2 FROM table;</a:t>
            </a:r>
            <a:endParaRPr lang="fr-FR" sz="3200" dirty="0"/>
          </a:p>
        </p:txBody>
      </p:sp>
      <p:sp>
        <p:nvSpPr>
          <p:cNvPr id="6" name="ZoneTexte 5"/>
          <p:cNvSpPr txBox="1"/>
          <p:nvPr/>
        </p:nvSpPr>
        <p:spPr>
          <a:xfrm>
            <a:off x="1734200" y="4966132"/>
            <a:ext cx="10074166" cy="1569660"/>
          </a:xfrm>
          <a:prstGeom prst="rect">
            <a:avLst/>
          </a:prstGeom>
          <a:noFill/>
        </p:spPr>
        <p:txBody>
          <a:bodyPr wrap="square" rtlCol="0">
            <a:spAutoFit/>
          </a:bodyPr>
          <a:lstStyle/>
          <a:p>
            <a:r>
              <a:rPr lang="fr-FR" sz="3200" b="1" dirty="0" smtClean="0"/>
              <a:t>Exemple :</a:t>
            </a:r>
          </a:p>
          <a:p>
            <a:endParaRPr lang="fr-FR" sz="3200" b="1" dirty="0" smtClean="0"/>
          </a:p>
          <a:p>
            <a:r>
              <a:rPr lang="fr-FR" sz="3200" dirty="0" smtClean="0"/>
              <a:t>    SELECT </a:t>
            </a:r>
            <a:r>
              <a:rPr lang="fr-FR" sz="3200" dirty="0" err="1" smtClean="0"/>
              <a:t>nom,adresse</a:t>
            </a:r>
            <a:r>
              <a:rPr lang="fr-FR" sz="3200" dirty="0" smtClean="0"/>
              <a:t> </a:t>
            </a:r>
            <a:r>
              <a:rPr lang="fr-FR" sz="3200" dirty="0" err="1" smtClean="0"/>
              <a:t>from</a:t>
            </a:r>
            <a:r>
              <a:rPr lang="fr-FR" sz="3200" dirty="0" smtClean="0"/>
              <a:t> client;</a:t>
            </a:r>
            <a:endParaRPr lang="fr-FR" sz="3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3">
                    <a:extLst>
                      <a:ext uri="{28A0092B-C50C-407E-A947-70E740481C1C}">
                        <a14:useLocalDpi xmlns:a14="http://schemas.microsoft.com/office/drawing/2010/main" xmlns="" val="0"/>
                      </a:ext>
                    </a:extLst>
                  </a:blip>
                  <a:tile tx="6350" ty="-127000" sx="65000" sy="64000" flip="none" algn="tl"/>
                </a:blipFill>
                <a:latin typeface="+mj-lt"/>
                <a:ea typeface="+mj-ea"/>
                <a:cs typeface="+mj-cs"/>
              </a:rPr>
              <a:t>SELECT</a:t>
            </a:r>
            <a:endParaRPr lang="fr-FR" sz="4400" cap="all" dirty="0" smtClean="0">
              <a:blipFill>
                <a:blip r:embed="rId3">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5" name="ZoneTexte 4"/>
          <p:cNvSpPr txBox="1"/>
          <p:nvPr/>
        </p:nvSpPr>
        <p:spPr>
          <a:xfrm>
            <a:off x="1103585" y="2033752"/>
            <a:ext cx="10294883" cy="2277547"/>
          </a:xfrm>
          <a:prstGeom prst="rect">
            <a:avLst/>
          </a:prstGeom>
          <a:noFill/>
        </p:spPr>
        <p:txBody>
          <a:bodyPr wrap="square" rtlCol="0">
            <a:spAutoFit/>
          </a:bodyPr>
          <a:lstStyle/>
          <a:p>
            <a:r>
              <a:rPr lang="fr-FR" sz="3200" dirty="0" smtClean="0"/>
              <a:t>-Il est possible de retourner automatiquement toutes colonnes à l’aide de caractère « * » (étoile). </a:t>
            </a:r>
          </a:p>
          <a:p>
            <a:endParaRPr lang="fr-FR" sz="2000" dirty="0" smtClean="0"/>
          </a:p>
          <a:p>
            <a:endParaRPr lang="fr-FR" sz="2000" dirty="0" smtClean="0"/>
          </a:p>
          <a:p>
            <a:endParaRPr lang="fr-FR" sz="2000" dirty="0" smtClean="0"/>
          </a:p>
          <a:p>
            <a:endParaRPr lang="fr-FR" dirty="0"/>
          </a:p>
        </p:txBody>
      </p:sp>
      <p:sp>
        <p:nvSpPr>
          <p:cNvPr id="8" name="Rectangle 7"/>
          <p:cNvSpPr/>
          <p:nvPr/>
        </p:nvSpPr>
        <p:spPr>
          <a:xfrm>
            <a:off x="1827821" y="3055147"/>
            <a:ext cx="1884875" cy="584775"/>
          </a:xfrm>
          <a:prstGeom prst="rect">
            <a:avLst/>
          </a:prstGeom>
        </p:spPr>
        <p:txBody>
          <a:bodyPr wrap="none">
            <a:spAutoFit/>
          </a:bodyPr>
          <a:lstStyle/>
          <a:p>
            <a:pPr>
              <a:buNone/>
            </a:pPr>
            <a:r>
              <a:rPr lang="fr-FR" sz="3200" b="1" dirty="0" smtClean="0"/>
              <a:t>Syntaxe:</a:t>
            </a:r>
            <a:endParaRPr lang="fr-FR" sz="3200" b="1" dirty="0"/>
          </a:p>
        </p:txBody>
      </p:sp>
      <p:sp>
        <p:nvSpPr>
          <p:cNvPr id="6" name="ZoneTexte 5"/>
          <p:cNvSpPr txBox="1"/>
          <p:nvPr/>
        </p:nvSpPr>
        <p:spPr>
          <a:xfrm>
            <a:off x="2020428" y="3792593"/>
            <a:ext cx="4733604" cy="584775"/>
          </a:xfrm>
          <a:prstGeom prst="rect">
            <a:avLst/>
          </a:prstGeom>
          <a:noFill/>
        </p:spPr>
        <p:txBody>
          <a:bodyPr wrap="none" rtlCol="0">
            <a:spAutoFit/>
          </a:bodyPr>
          <a:lstStyle/>
          <a:p>
            <a:r>
              <a:rPr lang="fr-FR" sz="3200" dirty="0" smtClean="0"/>
              <a:t>  SELECT *  FROM table;</a:t>
            </a:r>
            <a:endParaRPr lang="fr-FR" sz="3200" dirty="0"/>
          </a:p>
        </p:txBody>
      </p:sp>
      <p:sp>
        <p:nvSpPr>
          <p:cNvPr id="7" name="Rectangle 6"/>
          <p:cNvSpPr/>
          <p:nvPr/>
        </p:nvSpPr>
        <p:spPr>
          <a:xfrm>
            <a:off x="1912880" y="4934635"/>
            <a:ext cx="6096000" cy="1569660"/>
          </a:xfrm>
          <a:prstGeom prst="rect">
            <a:avLst/>
          </a:prstGeom>
        </p:spPr>
        <p:txBody>
          <a:bodyPr>
            <a:spAutoFit/>
          </a:bodyPr>
          <a:lstStyle/>
          <a:p>
            <a:r>
              <a:rPr lang="fr-FR" sz="3200" b="1" dirty="0" smtClean="0"/>
              <a:t>Exemple:</a:t>
            </a:r>
          </a:p>
          <a:p>
            <a:endParaRPr lang="fr-FR" sz="3200" dirty="0" smtClean="0"/>
          </a:p>
          <a:p>
            <a:r>
              <a:rPr lang="fr-FR" sz="3200" dirty="0" smtClean="0"/>
              <a:t>	  SELECT * </a:t>
            </a:r>
            <a:r>
              <a:rPr lang="fr-FR" sz="3200" dirty="0" err="1" smtClean="0"/>
              <a:t>from</a:t>
            </a:r>
            <a:r>
              <a:rPr lang="fr-FR" sz="3200" dirty="0" smtClean="0"/>
              <a:t> client;</a:t>
            </a:r>
            <a:endParaRPr lang="fr-FR" sz="3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UPDATE</a:t>
            </a:r>
            <a:endPar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5" name="ZoneTexte 4"/>
          <p:cNvSpPr txBox="1"/>
          <p:nvPr/>
        </p:nvSpPr>
        <p:spPr>
          <a:xfrm>
            <a:off x="1103585" y="1765730"/>
            <a:ext cx="10294883" cy="3416320"/>
          </a:xfrm>
          <a:prstGeom prst="rect">
            <a:avLst/>
          </a:prstGeom>
          <a:noFill/>
        </p:spPr>
        <p:txBody>
          <a:bodyPr wrap="square" rtlCol="0">
            <a:spAutoFit/>
          </a:bodyPr>
          <a:lstStyle/>
          <a:p>
            <a:pPr algn="just"/>
            <a:r>
              <a:rPr lang="fr-FR" sz="2400" dirty="0" smtClean="0"/>
              <a:t>-La commande UPDATE permet d’effectuer des modifications sur des lignes existantes.</a:t>
            </a:r>
          </a:p>
          <a:p>
            <a:pPr algn="just"/>
            <a:endParaRPr lang="fr-FR" sz="2400" dirty="0" smtClean="0"/>
          </a:p>
          <a:p>
            <a:pPr algn="just"/>
            <a:r>
              <a:rPr lang="fr-FR" sz="2400" dirty="0" smtClean="0"/>
              <a:t> -Cette commande est utilisée avec </a:t>
            </a:r>
            <a:r>
              <a:rPr lang="fr-FR" sz="2400" b="1" dirty="0" smtClean="0"/>
              <a:t>WHERE</a:t>
            </a:r>
            <a:r>
              <a:rPr lang="fr-FR" sz="2400" dirty="0" smtClean="0"/>
              <a:t> pour spécifier sur quelles lignes doivent porter la ou les modifications.</a:t>
            </a:r>
          </a:p>
          <a:p>
            <a:pPr algn="just"/>
            <a:endParaRPr lang="fr-FR" sz="2400" dirty="0" smtClean="0"/>
          </a:p>
          <a:p>
            <a:pPr algn="just"/>
            <a:r>
              <a:rPr lang="fr-FR" sz="2400" b="1" dirty="0" smtClean="0"/>
              <a:t>Syntaxe:</a:t>
            </a:r>
          </a:p>
          <a:p>
            <a:pPr algn="just"/>
            <a:endParaRPr lang="fr-FR" sz="2400" dirty="0" smtClean="0"/>
          </a:p>
          <a:p>
            <a:endParaRPr lang="fr-FR" sz="2400" dirty="0"/>
          </a:p>
        </p:txBody>
      </p:sp>
      <p:pic>
        <p:nvPicPr>
          <p:cNvPr id="7" name="Picture 2"/>
          <p:cNvPicPr>
            <a:picLocks noChangeAspect="1" noChangeArrowheads="1"/>
          </p:cNvPicPr>
          <p:nvPr/>
        </p:nvPicPr>
        <p:blipFill>
          <a:blip r:embed="rId3"/>
          <a:srcRect/>
          <a:stretch>
            <a:fillRect/>
          </a:stretch>
        </p:blipFill>
        <p:spPr bwMode="auto">
          <a:xfrm>
            <a:off x="2484031" y="4292650"/>
            <a:ext cx="7432479" cy="1256803"/>
          </a:xfrm>
          <a:prstGeom prst="rect">
            <a:avLst/>
          </a:prstGeom>
          <a:noFill/>
          <a:ln w="9525">
            <a:noFill/>
            <a:miter lim="800000"/>
            <a:headEnd/>
            <a:tailEnd/>
          </a:ln>
          <a:effectLst/>
        </p:spPr>
      </p:pic>
      <p:sp>
        <p:nvSpPr>
          <p:cNvPr id="10" name="ZoneTexte 9"/>
          <p:cNvSpPr txBox="1"/>
          <p:nvPr/>
        </p:nvSpPr>
        <p:spPr>
          <a:xfrm>
            <a:off x="1135105" y="5360272"/>
            <a:ext cx="10452545" cy="1323439"/>
          </a:xfrm>
          <a:prstGeom prst="rect">
            <a:avLst/>
          </a:prstGeom>
          <a:noFill/>
        </p:spPr>
        <p:txBody>
          <a:bodyPr wrap="square" rtlCol="0">
            <a:spAutoFit/>
          </a:bodyPr>
          <a:lstStyle/>
          <a:p>
            <a:r>
              <a:rPr lang="fr-FR" sz="2000" b="1" dirty="0" smtClean="0"/>
              <a:t>Exemple :</a:t>
            </a:r>
          </a:p>
          <a:p>
            <a:endParaRPr lang="fr-FR" sz="2000" b="1" dirty="0" smtClean="0"/>
          </a:p>
          <a:p>
            <a:r>
              <a:rPr lang="fr-FR" sz="2000" dirty="0" smtClean="0"/>
              <a:t>Update client set </a:t>
            </a:r>
            <a:r>
              <a:rPr lang="fr-FR" sz="2000" dirty="0" err="1" smtClean="0"/>
              <a:t>ncli</a:t>
            </a:r>
            <a:r>
              <a:rPr lang="fr-FR" sz="2000" dirty="0" smtClean="0"/>
              <a:t>=2,nom=‘RAVAO’,adresse= ’Lot IB1456’,</a:t>
            </a:r>
            <a:r>
              <a:rPr lang="fr-FR" sz="2000" dirty="0" err="1" smtClean="0"/>
              <a:t>localite</a:t>
            </a:r>
            <a:r>
              <a:rPr lang="fr-FR" sz="2000" dirty="0" smtClean="0"/>
              <a:t>=‘Antsirabe’,compte= ’22222’,</a:t>
            </a:r>
            <a:r>
              <a:rPr lang="fr-FR" sz="2000" dirty="0" err="1" smtClean="0"/>
              <a:t>datenaiss</a:t>
            </a:r>
            <a:r>
              <a:rPr lang="fr-FR" sz="2000" dirty="0" smtClean="0"/>
              <a:t>=‘1993-04-28’ </a:t>
            </a:r>
            <a:r>
              <a:rPr lang="fr-FR" sz="2000" dirty="0" err="1" smtClean="0"/>
              <a:t>where</a:t>
            </a:r>
            <a:r>
              <a:rPr lang="fr-FR" sz="2000" dirty="0" smtClean="0"/>
              <a:t> </a:t>
            </a:r>
            <a:r>
              <a:rPr lang="fr-FR" sz="2000" dirty="0" err="1" smtClean="0"/>
              <a:t>ncli</a:t>
            </a:r>
            <a:r>
              <a:rPr lang="fr-FR" sz="2000" dirty="0" smtClean="0"/>
              <a:t>=2;</a:t>
            </a:r>
            <a:endParaRPr lang="fr-FR"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DELETE</a:t>
            </a:r>
          </a:p>
        </p:txBody>
      </p:sp>
      <p:sp>
        <p:nvSpPr>
          <p:cNvPr id="5" name="ZoneTexte 4"/>
          <p:cNvSpPr txBox="1"/>
          <p:nvPr/>
        </p:nvSpPr>
        <p:spPr>
          <a:xfrm>
            <a:off x="1103585" y="2033752"/>
            <a:ext cx="10294883" cy="2215991"/>
          </a:xfrm>
          <a:prstGeom prst="rect">
            <a:avLst/>
          </a:prstGeom>
          <a:noFill/>
        </p:spPr>
        <p:txBody>
          <a:bodyPr wrap="square" rtlCol="0">
            <a:spAutoFit/>
          </a:bodyPr>
          <a:lstStyle/>
          <a:p>
            <a:r>
              <a:rPr lang="fr-FR" sz="2000" dirty="0" smtClean="0"/>
              <a:t>-La commande DELETE en SQL permet de supprimer des lignes dans une table. </a:t>
            </a:r>
          </a:p>
          <a:p>
            <a:endParaRPr lang="fr-FR" sz="2000" dirty="0" smtClean="0"/>
          </a:p>
          <a:p>
            <a:endParaRPr lang="fr-FR" sz="2000" dirty="0" smtClean="0"/>
          </a:p>
          <a:p>
            <a:r>
              <a:rPr lang="fr-FR" sz="2000" dirty="0" smtClean="0"/>
              <a:t>-Cette commande est associée avec WHERE pour bien sélectionner les lignes concernées qui seront supprimées.</a:t>
            </a:r>
          </a:p>
          <a:p>
            <a:endParaRPr lang="fr-FR" sz="2000" dirty="0" smtClean="0"/>
          </a:p>
          <a:p>
            <a:endParaRPr lang="fr-FR" dirty="0"/>
          </a:p>
        </p:txBody>
      </p:sp>
      <p:sp>
        <p:nvSpPr>
          <p:cNvPr id="8" name="Rectangle 7"/>
          <p:cNvSpPr/>
          <p:nvPr/>
        </p:nvSpPr>
        <p:spPr>
          <a:xfrm>
            <a:off x="2001242" y="4111437"/>
            <a:ext cx="1142300" cy="369332"/>
          </a:xfrm>
          <a:prstGeom prst="rect">
            <a:avLst/>
          </a:prstGeom>
        </p:spPr>
        <p:txBody>
          <a:bodyPr wrap="none">
            <a:spAutoFit/>
          </a:bodyPr>
          <a:lstStyle/>
          <a:p>
            <a:pPr>
              <a:buNone/>
            </a:pPr>
            <a:r>
              <a:rPr lang="fr-FR" b="1" dirty="0" smtClean="0"/>
              <a:t>Syntaxe:</a:t>
            </a:r>
            <a:endParaRPr lang="fr-FR" b="1" dirty="0"/>
          </a:p>
        </p:txBody>
      </p:sp>
      <p:pic>
        <p:nvPicPr>
          <p:cNvPr id="9" name="Picture 2"/>
          <p:cNvPicPr>
            <a:picLocks noChangeAspect="1" noChangeArrowheads="1"/>
          </p:cNvPicPr>
          <p:nvPr/>
        </p:nvPicPr>
        <p:blipFill>
          <a:blip r:embed="rId3"/>
          <a:srcRect/>
          <a:stretch>
            <a:fillRect/>
          </a:stretch>
        </p:blipFill>
        <p:spPr bwMode="auto">
          <a:xfrm>
            <a:off x="2294844" y="4921792"/>
            <a:ext cx="7301467" cy="627670"/>
          </a:xfrm>
          <a:prstGeom prst="rect">
            <a:avLst/>
          </a:prstGeom>
          <a:noFill/>
          <a:ln w="9525">
            <a:noFill/>
            <a:miter lim="800000"/>
            <a:headEnd/>
            <a:tailEnd/>
          </a:ln>
          <a:effectLst/>
        </p:spPr>
      </p:pic>
      <p:sp>
        <p:nvSpPr>
          <p:cNvPr id="10" name="ZoneTexte 9"/>
          <p:cNvSpPr txBox="1"/>
          <p:nvPr/>
        </p:nvSpPr>
        <p:spPr>
          <a:xfrm>
            <a:off x="1986454" y="5792776"/>
            <a:ext cx="6448097" cy="1200329"/>
          </a:xfrm>
          <a:prstGeom prst="rect">
            <a:avLst/>
          </a:prstGeom>
          <a:noFill/>
        </p:spPr>
        <p:txBody>
          <a:bodyPr wrap="square" rtlCol="0">
            <a:spAutoFit/>
          </a:bodyPr>
          <a:lstStyle/>
          <a:p>
            <a:r>
              <a:rPr lang="fr-FR" b="1" dirty="0" smtClean="0"/>
              <a:t>Exemple:</a:t>
            </a:r>
          </a:p>
          <a:p>
            <a:endParaRPr lang="fr-FR" b="1" dirty="0" smtClean="0"/>
          </a:p>
          <a:p>
            <a:r>
              <a:rPr lang="fr-FR" dirty="0" err="1" smtClean="0"/>
              <a:t>Delete</a:t>
            </a:r>
            <a:r>
              <a:rPr lang="fr-FR" dirty="0" smtClean="0"/>
              <a:t> </a:t>
            </a:r>
            <a:r>
              <a:rPr lang="fr-FR" dirty="0" err="1" smtClean="0"/>
              <a:t>from</a:t>
            </a:r>
            <a:r>
              <a:rPr lang="fr-FR" dirty="0" smtClean="0"/>
              <a:t> client </a:t>
            </a:r>
            <a:r>
              <a:rPr lang="fr-FR" dirty="0" err="1" smtClean="0"/>
              <a:t>where</a:t>
            </a:r>
            <a:r>
              <a:rPr lang="fr-FR" dirty="0" smtClean="0"/>
              <a:t> </a:t>
            </a:r>
            <a:r>
              <a:rPr lang="fr-FR" dirty="0" err="1" smtClean="0"/>
              <a:t>ncli</a:t>
            </a:r>
            <a:r>
              <a:rPr lang="fr-FR" dirty="0" smtClean="0"/>
              <a:t>=2;</a:t>
            </a:r>
          </a:p>
          <a:p>
            <a:endParaRPr lang="fr-F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 xmlns:a16="http://schemas.microsoft.com/office/drawing/2014/main" id="{59E86273-66FB-4801-A4B3-A895DFAD1165}"/>
              </a:ext>
            </a:extLst>
          </p:cNvPr>
          <p:cNvSpPr>
            <a:spLocks noGrp="1"/>
          </p:cNvSpPr>
          <p:nvPr>
            <p:ph type="title"/>
          </p:nvPr>
        </p:nvSpPr>
        <p:spPr>
          <a:xfrm>
            <a:off x="2434414" y="1394122"/>
            <a:ext cx="9757586" cy="3520440"/>
          </a:xfrm>
        </p:spPr>
        <p:txBody>
          <a:bodyPr>
            <a:normAutofit/>
          </a:bodyPr>
          <a:lstStyle/>
          <a:p>
            <a:r>
              <a:rPr lang="fr-FR" sz="4400" dirty="0" smtClean="0"/>
              <a:t>LMD(Data Manipulation </a:t>
            </a:r>
            <a:r>
              <a:rPr lang="fr-FR" sz="4400" dirty="0" err="1" smtClean="0"/>
              <a:t>Language</a:t>
            </a:r>
            <a:r>
              <a:rPr lang="fr-FR" sz="4400" dirty="0" smtClean="0"/>
              <a:t>)</a:t>
            </a:r>
            <a:endParaRPr lang="x-none" sz="4400" dirty="0"/>
          </a:p>
        </p:txBody>
      </p:sp>
      <p:sp>
        <p:nvSpPr>
          <p:cNvPr id="6" name="Espace réservé du texte 5"/>
          <p:cNvSpPr>
            <a:spLocks noGrp="1"/>
          </p:cNvSpPr>
          <p:nvPr>
            <p:ph type="body" idx="1"/>
          </p:nvPr>
        </p:nvSpPr>
        <p:spPr/>
        <p:txBody>
          <a:bodyPr/>
          <a:lstStyle/>
          <a:p>
            <a:r>
              <a:rPr lang="fr-FR" dirty="0" smtClean="0"/>
              <a:t>Suite(2)</a:t>
            </a:r>
            <a:endParaRPr lang="fr-FR" dirty="0"/>
          </a:p>
        </p:txBody>
      </p:sp>
    </p:spTree>
    <p:extLst>
      <p:ext uri="{BB962C8B-B14F-4D97-AF65-F5344CB8AC3E}">
        <p14:creationId xmlns="" xmlns:p14="http://schemas.microsoft.com/office/powerpoint/2010/main" val="28001950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DISTINCT</a:t>
            </a:r>
            <a:endPar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7" name="Espace réservé du contenu 2"/>
          <p:cNvSpPr>
            <a:spLocks noGrp="1"/>
          </p:cNvSpPr>
          <p:nvPr>
            <p:ph sz="quarter" idx="1"/>
          </p:nvPr>
        </p:nvSpPr>
        <p:spPr>
          <a:xfrm>
            <a:off x="1297671" y="2013046"/>
            <a:ext cx="9785487" cy="1214446"/>
          </a:xfrm>
        </p:spPr>
        <p:txBody>
          <a:bodyPr>
            <a:normAutofit/>
          </a:bodyPr>
          <a:lstStyle/>
          <a:p>
            <a:pPr algn="just">
              <a:buNone/>
            </a:pPr>
            <a:r>
              <a:rPr lang="fr-FR" dirty="0" smtClean="0"/>
              <a:t>	Le DISTINCT permet d’éviter les redondances dans les résultats du SELECT. L’utilisation basique de cette commande consiste alors à effectuer la requête suivante :</a:t>
            </a:r>
          </a:p>
          <a:p>
            <a:pPr>
              <a:buNone/>
            </a:pPr>
            <a:endParaRPr lang="fr-FR" dirty="0" smtClean="0"/>
          </a:p>
          <a:p>
            <a:pPr>
              <a:buNone/>
            </a:pPr>
            <a:endParaRPr lang="fr-FR" dirty="0" smtClean="0"/>
          </a:p>
          <a:p>
            <a:pPr>
              <a:buNone/>
            </a:pPr>
            <a:endParaRPr lang="fr-FR" dirty="0"/>
          </a:p>
        </p:txBody>
      </p:sp>
      <p:pic>
        <p:nvPicPr>
          <p:cNvPr id="12" name="Picture 2"/>
          <p:cNvPicPr>
            <a:picLocks noChangeAspect="1" noChangeArrowheads="1"/>
          </p:cNvPicPr>
          <p:nvPr/>
        </p:nvPicPr>
        <p:blipFill>
          <a:blip r:embed="rId3"/>
          <a:srcRect/>
          <a:stretch>
            <a:fillRect/>
          </a:stretch>
        </p:blipFill>
        <p:spPr bwMode="auto">
          <a:xfrm>
            <a:off x="1814489" y="3819192"/>
            <a:ext cx="6321396" cy="563621"/>
          </a:xfrm>
          <a:prstGeom prst="rect">
            <a:avLst/>
          </a:prstGeom>
          <a:noFill/>
          <a:ln w="9525">
            <a:noFill/>
            <a:miter lim="800000"/>
            <a:headEnd/>
            <a:tailEnd/>
          </a:ln>
          <a:effectLst/>
        </p:spPr>
      </p:pic>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970689" y="5376041"/>
            <a:ext cx="3562578" cy="369332"/>
          </a:xfrm>
          <a:prstGeom prst="rect">
            <a:avLst/>
          </a:prstGeom>
          <a:noFill/>
        </p:spPr>
        <p:txBody>
          <a:bodyPr wrap="none" rtlCol="0">
            <a:spAutoFit/>
          </a:bodyPr>
          <a:lstStyle/>
          <a:p>
            <a:r>
              <a:rPr lang="fr-FR" dirty="0" smtClean="0"/>
              <a:t>Select distinct(nom) </a:t>
            </a:r>
            <a:r>
              <a:rPr lang="fr-FR" dirty="0" err="1" smtClean="0"/>
              <a:t>from</a:t>
            </a:r>
            <a:r>
              <a:rPr lang="fr-FR" dirty="0" smtClean="0"/>
              <a:t> client;</a:t>
            </a:r>
            <a:endParaRPr lang="fr-F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AS </a:t>
            </a: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(alias)</a:t>
            </a:r>
          </a:p>
        </p:txBody>
      </p:sp>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844565" y="5360276"/>
            <a:ext cx="3952749" cy="369332"/>
          </a:xfrm>
          <a:prstGeom prst="rect">
            <a:avLst/>
          </a:prstGeom>
          <a:noFill/>
        </p:spPr>
        <p:txBody>
          <a:bodyPr wrap="none" rtlCol="0">
            <a:spAutoFit/>
          </a:bodyPr>
          <a:lstStyle/>
          <a:p>
            <a:r>
              <a:rPr lang="fr-FR" dirty="0" smtClean="0"/>
              <a:t>Select </a:t>
            </a:r>
            <a:r>
              <a:rPr lang="fr-FR" dirty="0" err="1" smtClean="0"/>
              <a:t>ncli</a:t>
            </a:r>
            <a:r>
              <a:rPr lang="fr-FR" dirty="0" smtClean="0"/>
              <a:t> as identifiant </a:t>
            </a:r>
            <a:r>
              <a:rPr lang="fr-FR" dirty="0" err="1" smtClean="0"/>
              <a:t>from</a:t>
            </a:r>
            <a:r>
              <a:rPr lang="fr-FR" dirty="0" smtClean="0"/>
              <a:t> client;</a:t>
            </a:r>
            <a:endParaRPr lang="fr-FR" dirty="0"/>
          </a:p>
        </p:txBody>
      </p:sp>
      <p:sp>
        <p:nvSpPr>
          <p:cNvPr id="8" name="Espace réservé du contenu 7"/>
          <p:cNvSpPr>
            <a:spLocks noGrp="1"/>
          </p:cNvSpPr>
          <p:nvPr>
            <p:ph idx="1"/>
          </p:nvPr>
        </p:nvSpPr>
        <p:spPr>
          <a:xfrm>
            <a:off x="1069848" y="2121408"/>
            <a:ext cx="10754290" cy="3096978"/>
          </a:xfrm>
        </p:spPr>
        <p:txBody>
          <a:bodyPr/>
          <a:lstStyle/>
          <a:p>
            <a:pPr>
              <a:buNone/>
            </a:pPr>
            <a:r>
              <a:rPr lang="fr-FR" dirty="0" smtClean="0"/>
              <a:t>   Dans le langage SQL il est possible d’utiliser des alias pour renommer temporairement une colonne ou une table dans une requête. Cette astuce est particulièrement utile pour faciliter la lecture des requêtes.</a:t>
            </a:r>
          </a:p>
          <a:p>
            <a:pPr>
              <a:buNone/>
            </a:pPr>
            <a:endParaRPr lang="fr-FR" dirty="0"/>
          </a:p>
        </p:txBody>
      </p:sp>
      <p:pic>
        <p:nvPicPr>
          <p:cNvPr id="9" name="Picture 3"/>
          <p:cNvPicPr>
            <a:picLocks noChangeAspect="1" noChangeArrowheads="1"/>
          </p:cNvPicPr>
          <p:nvPr/>
        </p:nvPicPr>
        <p:blipFill>
          <a:blip r:embed="rId3"/>
          <a:srcRect/>
          <a:stretch>
            <a:fillRect/>
          </a:stretch>
        </p:blipFill>
        <p:spPr bwMode="auto">
          <a:xfrm>
            <a:off x="1798726" y="3793579"/>
            <a:ext cx="5438775" cy="485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WHERE</a:t>
            </a:r>
            <a:endPar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844565" y="5360276"/>
            <a:ext cx="4053033" cy="369332"/>
          </a:xfrm>
          <a:prstGeom prst="rect">
            <a:avLst/>
          </a:prstGeom>
          <a:noFill/>
        </p:spPr>
        <p:txBody>
          <a:bodyPr wrap="none" rtlCol="0">
            <a:spAutoFit/>
          </a:bodyPr>
          <a:lstStyle/>
          <a:p>
            <a:r>
              <a:rPr lang="fr-FR" dirty="0" smtClean="0"/>
              <a:t>Select nom </a:t>
            </a:r>
            <a:r>
              <a:rPr lang="fr-FR" dirty="0" err="1" smtClean="0"/>
              <a:t>from</a:t>
            </a:r>
            <a:r>
              <a:rPr lang="fr-FR" dirty="0" smtClean="0"/>
              <a:t> client </a:t>
            </a:r>
            <a:r>
              <a:rPr lang="fr-FR" dirty="0" err="1" smtClean="0"/>
              <a:t>where</a:t>
            </a:r>
            <a:r>
              <a:rPr lang="fr-FR" dirty="0" smtClean="0"/>
              <a:t> </a:t>
            </a:r>
            <a:r>
              <a:rPr lang="fr-FR" dirty="0" err="1" smtClean="0"/>
              <a:t>ncli</a:t>
            </a:r>
            <a:r>
              <a:rPr lang="fr-FR" dirty="0" smtClean="0"/>
              <a:t>=4;</a:t>
            </a:r>
            <a:endParaRPr lang="fr-FR" dirty="0"/>
          </a:p>
        </p:txBody>
      </p:sp>
      <p:sp>
        <p:nvSpPr>
          <p:cNvPr id="10" name="Espace réservé du contenu 9"/>
          <p:cNvSpPr>
            <a:spLocks noGrp="1"/>
          </p:cNvSpPr>
          <p:nvPr>
            <p:ph idx="1"/>
          </p:nvPr>
        </p:nvSpPr>
        <p:spPr>
          <a:xfrm>
            <a:off x="1069848" y="2121408"/>
            <a:ext cx="10058400" cy="1173585"/>
          </a:xfrm>
        </p:spPr>
        <p:txBody>
          <a:bodyPr/>
          <a:lstStyle/>
          <a:p>
            <a:pPr algn="just"/>
            <a:r>
              <a:rPr lang="fr-FR" dirty="0" smtClean="0"/>
              <a:t>La commande WHERE dans une requête SQL permet d’extraire les lignes d’une base de données qui respectent une condition. Cela permet d’obtenir uniquement les informations désirées.</a:t>
            </a:r>
          </a:p>
          <a:p>
            <a:endParaRPr lang="fr-FR" dirty="0"/>
          </a:p>
        </p:txBody>
      </p:sp>
      <p:pic>
        <p:nvPicPr>
          <p:cNvPr id="12" name="Picture 2"/>
          <p:cNvPicPr>
            <a:picLocks noChangeAspect="1" noChangeArrowheads="1"/>
          </p:cNvPicPr>
          <p:nvPr/>
        </p:nvPicPr>
        <p:blipFill>
          <a:blip r:embed="rId3"/>
          <a:srcRect/>
          <a:stretch>
            <a:fillRect/>
          </a:stretch>
        </p:blipFill>
        <p:spPr bwMode="auto">
          <a:xfrm>
            <a:off x="1381431" y="3681749"/>
            <a:ext cx="6485562" cy="676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WHERE</a:t>
            </a:r>
            <a:endPar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844565" y="5360276"/>
            <a:ext cx="4053033" cy="369332"/>
          </a:xfrm>
          <a:prstGeom prst="rect">
            <a:avLst/>
          </a:prstGeom>
          <a:noFill/>
        </p:spPr>
        <p:txBody>
          <a:bodyPr wrap="none" rtlCol="0">
            <a:spAutoFit/>
          </a:bodyPr>
          <a:lstStyle/>
          <a:p>
            <a:r>
              <a:rPr lang="fr-FR" dirty="0" smtClean="0"/>
              <a:t>Select nom </a:t>
            </a:r>
            <a:r>
              <a:rPr lang="fr-FR" dirty="0" err="1" smtClean="0"/>
              <a:t>from</a:t>
            </a:r>
            <a:r>
              <a:rPr lang="fr-FR" dirty="0" smtClean="0"/>
              <a:t> client </a:t>
            </a:r>
            <a:r>
              <a:rPr lang="fr-FR" dirty="0" err="1" smtClean="0"/>
              <a:t>where</a:t>
            </a:r>
            <a:r>
              <a:rPr lang="fr-FR" dirty="0" smtClean="0"/>
              <a:t> </a:t>
            </a:r>
            <a:r>
              <a:rPr lang="fr-FR" dirty="0" err="1" smtClean="0"/>
              <a:t>ncli</a:t>
            </a:r>
            <a:r>
              <a:rPr lang="fr-FR" dirty="0" smtClean="0"/>
              <a:t>=4;</a:t>
            </a:r>
            <a:endParaRPr lang="fr-FR" dirty="0"/>
          </a:p>
        </p:txBody>
      </p:sp>
      <p:sp>
        <p:nvSpPr>
          <p:cNvPr id="10" name="Espace réservé du contenu 9"/>
          <p:cNvSpPr>
            <a:spLocks noGrp="1"/>
          </p:cNvSpPr>
          <p:nvPr>
            <p:ph idx="1"/>
          </p:nvPr>
        </p:nvSpPr>
        <p:spPr>
          <a:xfrm>
            <a:off x="1069848" y="2121408"/>
            <a:ext cx="10058400" cy="1173585"/>
          </a:xfrm>
        </p:spPr>
        <p:txBody>
          <a:bodyPr/>
          <a:lstStyle/>
          <a:p>
            <a:pPr algn="just"/>
            <a:r>
              <a:rPr lang="fr-FR" dirty="0" smtClean="0"/>
              <a:t>La commande WHERE dans une requête SQL permet d’extraire les lignes d’une base de données qui respectent une condition. Cela permet d’obtenir uniquement les informations désirées.</a:t>
            </a:r>
          </a:p>
          <a:p>
            <a:endParaRPr lang="fr-FR" dirty="0"/>
          </a:p>
        </p:txBody>
      </p:sp>
      <p:pic>
        <p:nvPicPr>
          <p:cNvPr id="12" name="Picture 2"/>
          <p:cNvPicPr>
            <a:picLocks noChangeAspect="1" noChangeArrowheads="1"/>
          </p:cNvPicPr>
          <p:nvPr/>
        </p:nvPicPr>
        <p:blipFill>
          <a:blip r:embed="rId3"/>
          <a:srcRect/>
          <a:stretch>
            <a:fillRect/>
          </a:stretch>
        </p:blipFill>
        <p:spPr bwMode="auto">
          <a:xfrm>
            <a:off x="1381431" y="3681749"/>
            <a:ext cx="6485562" cy="676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Opérateurs </a:t>
            </a: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de </a:t>
            </a: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comparaison</a:t>
            </a:r>
            <a:endPar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endParaRPr>
          </a:p>
        </p:txBody>
      </p:sp>
      <p:pic>
        <p:nvPicPr>
          <p:cNvPr id="9" name="Picture 2"/>
          <p:cNvPicPr>
            <a:picLocks noChangeAspect="1" noChangeArrowheads="1"/>
          </p:cNvPicPr>
          <p:nvPr/>
        </p:nvPicPr>
        <p:blipFill>
          <a:blip r:embed="rId3"/>
          <a:srcRect/>
          <a:stretch>
            <a:fillRect/>
          </a:stretch>
        </p:blipFill>
        <p:spPr bwMode="auto">
          <a:xfrm>
            <a:off x="1283879" y="2007629"/>
            <a:ext cx="8869113" cy="44100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AND </a:t>
            </a:r>
            <a:r>
              <a:rPr lang="fr-FR" sz="4400" cap="all" dirty="0" smtClean="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rPr>
              <a:t>&amp; OR</a:t>
            </a:r>
          </a:p>
        </p:txBody>
      </p:sp>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844565" y="5360276"/>
            <a:ext cx="5964390" cy="369332"/>
          </a:xfrm>
          <a:prstGeom prst="rect">
            <a:avLst/>
          </a:prstGeom>
          <a:noFill/>
        </p:spPr>
        <p:txBody>
          <a:bodyPr wrap="none" rtlCol="0">
            <a:spAutoFit/>
          </a:bodyPr>
          <a:lstStyle/>
          <a:p>
            <a:r>
              <a:rPr lang="fr-FR" dirty="0" smtClean="0"/>
              <a:t>Select nom </a:t>
            </a:r>
            <a:r>
              <a:rPr lang="fr-FR" dirty="0" err="1" smtClean="0"/>
              <a:t>from</a:t>
            </a:r>
            <a:r>
              <a:rPr lang="fr-FR" dirty="0" smtClean="0"/>
              <a:t> client </a:t>
            </a:r>
            <a:r>
              <a:rPr lang="fr-FR" dirty="0" err="1" smtClean="0"/>
              <a:t>where</a:t>
            </a:r>
            <a:r>
              <a:rPr lang="fr-FR" dirty="0" smtClean="0"/>
              <a:t> </a:t>
            </a:r>
            <a:r>
              <a:rPr lang="fr-FR" dirty="0" err="1" smtClean="0"/>
              <a:t>ncli</a:t>
            </a:r>
            <a:r>
              <a:rPr lang="fr-FR" dirty="0" smtClean="0"/>
              <a:t>=4 and  nom=‘</a:t>
            </a:r>
            <a:r>
              <a:rPr lang="fr-FR" dirty="0" err="1" smtClean="0"/>
              <a:t>ravao</a:t>
            </a:r>
            <a:r>
              <a:rPr lang="fr-FR" dirty="0" smtClean="0"/>
              <a:t>’;</a:t>
            </a:r>
            <a:endParaRPr lang="fr-FR" dirty="0"/>
          </a:p>
        </p:txBody>
      </p:sp>
      <p:sp>
        <p:nvSpPr>
          <p:cNvPr id="10" name="Espace réservé du contenu 9"/>
          <p:cNvSpPr>
            <a:spLocks noGrp="1"/>
          </p:cNvSpPr>
          <p:nvPr>
            <p:ph idx="1"/>
          </p:nvPr>
        </p:nvSpPr>
        <p:spPr>
          <a:xfrm>
            <a:off x="1069848" y="2121408"/>
            <a:ext cx="10058400" cy="1173585"/>
          </a:xfrm>
        </p:spPr>
        <p:txBody>
          <a:bodyPr/>
          <a:lstStyle/>
          <a:p>
            <a:pPr algn="just"/>
            <a:r>
              <a:rPr lang="fr-FR" dirty="0" smtClean="0"/>
              <a:t>Une requête SQL peut être restreinte à l’aide de la condition WHERE. Les opérateurs logiques AND et OR peuvent être utilisées au sein de la commande WHERE pour combiner des conditions.</a:t>
            </a:r>
            <a:endParaRPr lang="fr-FR" dirty="0"/>
          </a:p>
        </p:txBody>
      </p:sp>
      <p:pic>
        <p:nvPicPr>
          <p:cNvPr id="8" name="Picture 2"/>
          <p:cNvPicPr>
            <a:picLocks noChangeAspect="1" noChangeArrowheads="1"/>
          </p:cNvPicPr>
          <p:nvPr/>
        </p:nvPicPr>
        <p:blipFill>
          <a:blip r:embed="rId3"/>
          <a:srcRect/>
          <a:stretch>
            <a:fillRect/>
          </a:stretch>
        </p:blipFill>
        <p:spPr bwMode="auto">
          <a:xfrm>
            <a:off x="1829270" y="3781762"/>
            <a:ext cx="5448300" cy="695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 xmlns:a16="http://schemas.microsoft.com/office/drawing/2014/main" id="{59E86273-66FB-4801-A4B3-A895DFAD1165}"/>
              </a:ext>
            </a:extLst>
          </p:cNvPr>
          <p:cNvSpPr>
            <a:spLocks noGrp="1"/>
          </p:cNvSpPr>
          <p:nvPr>
            <p:ph type="title"/>
          </p:nvPr>
        </p:nvSpPr>
        <p:spPr>
          <a:xfrm>
            <a:off x="2434414" y="1394122"/>
            <a:ext cx="9757586" cy="3520440"/>
          </a:xfrm>
        </p:spPr>
        <p:txBody>
          <a:bodyPr>
            <a:normAutofit/>
          </a:bodyPr>
          <a:lstStyle/>
          <a:p>
            <a:r>
              <a:rPr lang="fr-FR" sz="4400" dirty="0" smtClean="0"/>
              <a:t>LMD(Data Manipulation </a:t>
            </a:r>
            <a:r>
              <a:rPr lang="fr-FR" sz="4400" dirty="0" err="1" smtClean="0"/>
              <a:t>Language</a:t>
            </a:r>
            <a:r>
              <a:rPr lang="fr-FR" sz="4400" dirty="0" smtClean="0"/>
              <a:t>)</a:t>
            </a:r>
            <a:endParaRPr lang="x-none" sz="4400" dirty="0"/>
          </a:p>
        </p:txBody>
      </p:sp>
      <p:sp>
        <p:nvSpPr>
          <p:cNvPr id="6" name="Espace réservé du texte 5"/>
          <p:cNvSpPr>
            <a:spLocks noGrp="1"/>
          </p:cNvSpPr>
          <p:nvPr>
            <p:ph type="body" idx="1"/>
          </p:nvPr>
        </p:nvSpPr>
        <p:spPr/>
        <p:txBody>
          <a:bodyPr/>
          <a:lstStyle/>
          <a:p>
            <a:r>
              <a:rPr lang="fr-FR" dirty="0" smtClean="0"/>
              <a:t>Suite(3)</a:t>
            </a:r>
            <a:endParaRPr lang="fr-FR" dirty="0"/>
          </a:p>
        </p:txBody>
      </p:sp>
    </p:spTree>
    <p:extLst>
      <p:ext uri="{BB962C8B-B14F-4D97-AF65-F5344CB8AC3E}">
        <p14:creationId xmlns="" xmlns:p14="http://schemas.microsoft.com/office/powerpoint/2010/main" val="28001950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LIKE</a:t>
            </a:r>
            <a:endParaRPr lang="fr-FR" dirty="0"/>
          </a:p>
        </p:txBody>
      </p:sp>
      <p:sp>
        <p:nvSpPr>
          <p:cNvPr id="3" name="Espace réservé du contenu 2"/>
          <p:cNvSpPr>
            <a:spLocks noGrp="1"/>
          </p:cNvSpPr>
          <p:nvPr>
            <p:ph idx="1"/>
          </p:nvPr>
        </p:nvSpPr>
        <p:spPr>
          <a:xfrm>
            <a:off x="1069848" y="2121408"/>
            <a:ext cx="10058400" cy="921337"/>
          </a:xfrm>
        </p:spPr>
        <p:txBody>
          <a:bodyPr/>
          <a:lstStyle/>
          <a:p>
            <a:r>
              <a:rPr lang="fr-FR" dirty="0" smtClean="0"/>
              <a:t>L’opérateur LIKE est utilisé dans la clause WHERE des requêtes SQL. Ce mot-clé permet d’effectuer une recherche sur un modèle particulier.</a:t>
            </a:r>
            <a:endParaRPr lang="fr-FR" dirty="0"/>
          </a:p>
        </p:txBody>
      </p:sp>
      <p:sp>
        <p:nvSpPr>
          <p:cNvPr id="4" name="Rectangle 3"/>
          <p:cNvSpPr/>
          <p:nvPr/>
        </p:nvSpPr>
        <p:spPr>
          <a:xfrm>
            <a:off x="1023255" y="3434902"/>
            <a:ext cx="6715172" cy="369332"/>
          </a:xfrm>
          <a:prstGeom prst="rect">
            <a:avLst/>
          </a:prstGeom>
        </p:spPr>
        <p:txBody>
          <a:bodyPr wrap="square">
            <a:spAutoFit/>
          </a:bodyPr>
          <a:lstStyle/>
          <a:p>
            <a:r>
              <a:rPr lang="fr-FR" b="1" dirty="0" smtClean="0"/>
              <a:t>Syntaxe:</a:t>
            </a:r>
            <a:endParaRPr lang="fr-FR" b="1" dirty="0"/>
          </a:p>
        </p:txBody>
      </p:sp>
      <p:pic>
        <p:nvPicPr>
          <p:cNvPr id="5" name="Picture 2"/>
          <p:cNvPicPr>
            <a:picLocks noChangeAspect="1" noChangeArrowheads="1"/>
          </p:cNvPicPr>
          <p:nvPr/>
        </p:nvPicPr>
        <p:blipFill>
          <a:blip r:embed="rId2"/>
          <a:srcRect/>
          <a:stretch>
            <a:fillRect/>
          </a:stretch>
        </p:blipFill>
        <p:spPr bwMode="auto">
          <a:xfrm>
            <a:off x="1191258" y="4037937"/>
            <a:ext cx="9654457" cy="1259277"/>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LIKE</a:t>
            </a:r>
            <a:endParaRPr lang="fr-FR" dirty="0"/>
          </a:p>
        </p:txBody>
      </p:sp>
      <p:sp>
        <p:nvSpPr>
          <p:cNvPr id="7" name="Rectangle 6"/>
          <p:cNvSpPr/>
          <p:nvPr/>
        </p:nvSpPr>
        <p:spPr>
          <a:xfrm>
            <a:off x="1133614" y="2047536"/>
            <a:ext cx="9508110" cy="2862322"/>
          </a:xfrm>
          <a:prstGeom prst="rect">
            <a:avLst/>
          </a:prstGeom>
        </p:spPr>
        <p:txBody>
          <a:bodyPr wrap="square">
            <a:spAutoFit/>
          </a:bodyPr>
          <a:lstStyle/>
          <a:p>
            <a:pPr algn="just"/>
            <a:r>
              <a:rPr lang="fr-FR" dirty="0" smtClean="0"/>
              <a:t>LIKE ‘%a’ : le caractère « % » est un caractère joker qui remplace tous les autres caractères. Ainsi, ce modèle permet de rechercher toutes les chaines de caractère qui se termine par un « a ». </a:t>
            </a:r>
          </a:p>
          <a:p>
            <a:pPr algn="just"/>
            <a:endParaRPr lang="fr-FR" dirty="0" smtClean="0"/>
          </a:p>
          <a:p>
            <a:pPr algn="just"/>
            <a:r>
              <a:rPr lang="fr-FR" dirty="0" smtClean="0"/>
              <a:t>• LIKE ‘a%’ : ce modèle permet de rechercher toutes les lignes de « colonne » qui commence par un « a ». </a:t>
            </a:r>
          </a:p>
          <a:p>
            <a:pPr algn="just"/>
            <a:endParaRPr lang="fr-FR" dirty="0" smtClean="0"/>
          </a:p>
          <a:p>
            <a:pPr algn="just"/>
            <a:r>
              <a:rPr lang="fr-FR" dirty="0" smtClean="0"/>
              <a:t>• LIKE ‘%a%’ : ce modèle est utilisé pour rechercher tous les enregistrement qui utilisent le caractère « a ». </a:t>
            </a:r>
          </a:p>
          <a:p>
            <a:endParaRPr lang="fr-FR"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smtClean="0"/>
              <a:t>IS NULL / IS NOT NULL </a:t>
            </a:r>
            <a:endParaRPr lang="fr-FR" dirty="0"/>
          </a:p>
        </p:txBody>
      </p:sp>
      <p:sp>
        <p:nvSpPr>
          <p:cNvPr id="5" name="Espace réservé du contenu 2"/>
          <p:cNvSpPr>
            <a:spLocks noGrp="1"/>
          </p:cNvSpPr>
          <p:nvPr>
            <p:ph sz="quarter" idx="1"/>
          </p:nvPr>
        </p:nvSpPr>
        <p:spPr>
          <a:xfrm>
            <a:off x="1119352" y="2046890"/>
            <a:ext cx="9727324" cy="4572000"/>
          </a:xfrm>
        </p:spPr>
        <p:txBody>
          <a:bodyPr/>
          <a:lstStyle/>
          <a:p>
            <a:r>
              <a:rPr lang="fr-FR" dirty="0" smtClean="0"/>
              <a:t>Dans le langage SQL, l’opérateur IS permet de filtrer les résultats qui contiennent la valeur NULL.</a:t>
            </a:r>
          </a:p>
          <a:p>
            <a:endParaRPr lang="fr-FR" dirty="0" smtClean="0"/>
          </a:p>
          <a:p>
            <a:pPr>
              <a:buNone/>
            </a:pPr>
            <a:endParaRPr lang="fr-FR" dirty="0" smtClean="0"/>
          </a:p>
        </p:txBody>
      </p:sp>
      <p:pic>
        <p:nvPicPr>
          <p:cNvPr id="6" name="Picture 2"/>
          <p:cNvPicPr>
            <a:picLocks noChangeAspect="1" noChangeArrowheads="1"/>
          </p:cNvPicPr>
          <p:nvPr/>
        </p:nvPicPr>
        <p:blipFill>
          <a:blip r:embed="rId2"/>
          <a:srcRect/>
          <a:stretch>
            <a:fillRect/>
          </a:stretch>
        </p:blipFill>
        <p:spPr bwMode="auto">
          <a:xfrm>
            <a:off x="1166131" y="3778299"/>
            <a:ext cx="10437462" cy="1329729"/>
          </a:xfrm>
          <a:prstGeom prst="rect">
            <a:avLst/>
          </a:prstGeom>
          <a:noFill/>
          <a:ln w="9525">
            <a:noFill/>
            <a:miter lim="800000"/>
            <a:headEnd/>
            <a:tailEnd/>
          </a:ln>
          <a:effectLst/>
        </p:spPr>
      </p:pic>
      <p:sp>
        <p:nvSpPr>
          <p:cNvPr id="8" name="ZoneTexte 7"/>
          <p:cNvSpPr txBox="1"/>
          <p:nvPr/>
        </p:nvSpPr>
        <p:spPr>
          <a:xfrm>
            <a:off x="1198179" y="3247696"/>
            <a:ext cx="1142300" cy="369332"/>
          </a:xfrm>
          <a:prstGeom prst="rect">
            <a:avLst/>
          </a:prstGeom>
          <a:noFill/>
        </p:spPr>
        <p:txBody>
          <a:bodyPr wrap="none" rtlCol="0">
            <a:spAutoFit/>
          </a:bodyPr>
          <a:lstStyle/>
          <a:p>
            <a:r>
              <a:rPr lang="fr-FR" b="1" dirty="0" smtClean="0"/>
              <a:t>Syntaxe:</a:t>
            </a:r>
            <a:endParaRPr lang="fr-FR"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fonctions de statistique</a:t>
            </a:r>
            <a:r>
              <a:rPr lang="en-US" dirty="0" smtClean="0"/>
              <a:t> </a:t>
            </a:r>
            <a:endParaRPr lang="fr-FR" dirty="0"/>
          </a:p>
        </p:txBody>
      </p:sp>
      <p:sp>
        <p:nvSpPr>
          <p:cNvPr id="5" name="Espace réservé du contenu 2"/>
          <p:cNvSpPr>
            <a:spLocks noGrp="1"/>
          </p:cNvSpPr>
          <p:nvPr>
            <p:ph sz="quarter" idx="1"/>
          </p:nvPr>
        </p:nvSpPr>
        <p:spPr>
          <a:xfrm>
            <a:off x="804042" y="1873469"/>
            <a:ext cx="9727324" cy="4572000"/>
          </a:xfrm>
        </p:spPr>
        <p:txBody>
          <a:bodyPr>
            <a:normAutofit lnSpcReduction="10000"/>
          </a:bodyPr>
          <a:lstStyle/>
          <a:p>
            <a:pPr algn="just">
              <a:buNone/>
            </a:pPr>
            <a:r>
              <a:rPr lang="fr-FR" dirty="0" smtClean="0"/>
              <a:t>   Il existe plusieurs fonctions qui peuvent être utilisées pour manipuler plusieurs enregistrements, il s’agit des fonctions d’agrégations statistiques:</a:t>
            </a:r>
          </a:p>
          <a:p>
            <a:pPr algn="just">
              <a:buNone/>
            </a:pPr>
            <a:endParaRPr lang="fr-FR" dirty="0" smtClean="0"/>
          </a:p>
          <a:p>
            <a:pPr algn="just"/>
            <a:r>
              <a:rPr lang="fr-FR" dirty="0" smtClean="0"/>
              <a:t>AVG() pour calculer la moyenne d’un set de valeur. </a:t>
            </a:r>
          </a:p>
          <a:p>
            <a:pPr algn="just"/>
            <a:endParaRPr lang="fr-FR" dirty="0" smtClean="0"/>
          </a:p>
          <a:p>
            <a:pPr algn="just"/>
            <a:r>
              <a:rPr lang="fr-FR" dirty="0" smtClean="0"/>
              <a:t>COUNT() pour compter le nombre de lignes concernées.</a:t>
            </a:r>
          </a:p>
          <a:p>
            <a:pPr algn="just"/>
            <a:endParaRPr lang="fr-FR" dirty="0" smtClean="0"/>
          </a:p>
          <a:p>
            <a:pPr algn="just"/>
            <a:r>
              <a:rPr lang="fr-FR" dirty="0" smtClean="0"/>
              <a:t>MAX() pour récupérer la plus haute valeur.</a:t>
            </a:r>
          </a:p>
          <a:p>
            <a:pPr algn="just"/>
            <a:endParaRPr lang="fr-FR" dirty="0" smtClean="0"/>
          </a:p>
          <a:p>
            <a:pPr algn="just"/>
            <a:r>
              <a:rPr lang="fr-FR" dirty="0" smtClean="0"/>
              <a:t> MIN() pour récupérer la plus petite valeur. </a:t>
            </a:r>
          </a:p>
          <a:p>
            <a:pPr algn="just"/>
            <a:endParaRPr lang="fr-FR" dirty="0" smtClean="0"/>
          </a:p>
          <a:p>
            <a:pPr algn="just"/>
            <a:r>
              <a:rPr lang="fr-FR" dirty="0" smtClean="0"/>
              <a:t>SUM() pour calculer la somme de plusieurs lignes.</a:t>
            </a:r>
          </a:p>
          <a:p>
            <a:endParaRPr lang="fr-FR" dirty="0" smtClean="0"/>
          </a:p>
          <a:p>
            <a:endParaRPr lang="fr-FR" dirty="0" smtClean="0"/>
          </a:p>
          <a:p>
            <a:endParaRPr lang="fr-FR" dirty="0" smtClean="0"/>
          </a:p>
          <a:p>
            <a:pPr>
              <a:buNone/>
            </a:pPr>
            <a:endParaRPr lang="fr-FR"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GROUP BY</a:t>
            </a:r>
            <a:r>
              <a:rPr lang="en-US" dirty="0" smtClean="0"/>
              <a:t> </a:t>
            </a:r>
            <a:endParaRPr lang="fr-FR" dirty="0" smtClean="0"/>
          </a:p>
        </p:txBody>
      </p:sp>
      <p:sp>
        <p:nvSpPr>
          <p:cNvPr id="5" name="Espace réservé du contenu 2"/>
          <p:cNvSpPr>
            <a:spLocks noGrp="1"/>
          </p:cNvSpPr>
          <p:nvPr>
            <p:ph sz="quarter" idx="1"/>
          </p:nvPr>
        </p:nvSpPr>
        <p:spPr>
          <a:xfrm>
            <a:off x="804042" y="1873469"/>
            <a:ext cx="9727324" cy="4572000"/>
          </a:xfrm>
        </p:spPr>
        <p:txBody>
          <a:bodyPr>
            <a:normAutofit/>
          </a:bodyPr>
          <a:lstStyle/>
          <a:p>
            <a:pPr algn="just"/>
            <a:r>
              <a:rPr lang="fr-FR" dirty="0" smtClean="0"/>
              <a:t>La commande GROUP BY est utilisée en SQL pour grouper plusieurs résultats et utiliser une fonction de totaux sur un groupe de résultat.</a:t>
            </a:r>
          </a:p>
          <a:p>
            <a:pPr algn="just"/>
            <a:endParaRPr lang="fr-FR" dirty="0" smtClean="0"/>
          </a:p>
          <a:p>
            <a:endParaRPr lang="fr-FR" dirty="0" smtClean="0"/>
          </a:p>
          <a:p>
            <a:endParaRPr lang="fr-FR" dirty="0" smtClean="0"/>
          </a:p>
          <a:p>
            <a:endParaRPr lang="fr-FR" dirty="0" smtClean="0"/>
          </a:p>
          <a:p>
            <a:pPr>
              <a:buNone/>
            </a:pPr>
            <a:endParaRPr lang="fr-FR" dirty="0" smtClean="0"/>
          </a:p>
        </p:txBody>
      </p:sp>
      <p:pic>
        <p:nvPicPr>
          <p:cNvPr id="4" name="Picture 2"/>
          <p:cNvPicPr>
            <a:picLocks noChangeAspect="1" noChangeArrowheads="1"/>
          </p:cNvPicPr>
          <p:nvPr/>
        </p:nvPicPr>
        <p:blipFill>
          <a:blip r:embed="rId2"/>
          <a:srcRect/>
          <a:stretch>
            <a:fillRect/>
          </a:stretch>
        </p:blipFill>
        <p:spPr bwMode="auto">
          <a:xfrm>
            <a:off x="1048383" y="3590115"/>
            <a:ext cx="9570700" cy="1202601"/>
          </a:xfrm>
          <a:prstGeom prst="rect">
            <a:avLst/>
          </a:prstGeom>
          <a:noFill/>
          <a:ln w="9525">
            <a:noFill/>
            <a:miter lim="800000"/>
            <a:headEnd/>
            <a:tailEnd/>
          </a:ln>
          <a:effectLst/>
        </p:spPr>
      </p:pic>
      <p:sp>
        <p:nvSpPr>
          <p:cNvPr id="6" name="ZoneTexte 5"/>
          <p:cNvSpPr txBox="1"/>
          <p:nvPr/>
        </p:nvSpPr>
        <p:spPr>
          <a:xfrm>
            <a:off x="1072056" y="2963918"/>
            <a:ext cx="1142300" cy="369332"/>
          </a:xfrm>
          <a:prstGeom prst="rect">
            <a:avLst/>
          </a:prstGeom>
          <a:noFill/>
        </p:spPr>
        <p:txBody>
          <a:bodyPr wrap="none" rtlCol="0">
            <a:spAutoFit/>
          </a:bodyPr>
          <a:lstStyle/>
          <a:p>
            <a:r>
              <a:rPr lang="fr-FR" b="1" dirty="0" smtClean="0"/>
              <a:t>Syntaxe:</a:t>
            </a:r>
            <a:endParaRPr lang="fr-FR"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GROUP BY</a:t>
            </a:r>
            <a:r>
              <a:rPr lang="en-US" dirty="0" smtClean="0"/>
              <a:t> </a:t>
            </a:r>
            <a:endParaRPr lang="fr-FR" dirty="0" smtClean="0"/>
          </a:p>
        </p:txBody>
      </p:sp>
      <p:pic>
        <p:nvPicPr>
          <p:cNvPr id="8" name="Picture 2"/>
          <p:cNvPicPr>
            <a:picLocks noChangeAspect="1" noChangeArrowheads="1"/>
          </p:cNvPicPr>
          <p:nvPr/>
        </p:nvPicPr>
        <p:blipFill>
          <a:blip r:embed="rId2"/>
          <a:srcRect/>
          <a:stretch>
            <a:fillRect/>
          </a:stretch>
        </p:blipFill>
        <p:spPr bwMode="auto">
          <a:xfrm>
            <a:off x="1259737" y="1816469"/>
            <a:ext cx="8723805" cy="1919957"/>
          </a:xfrm>
          <a:prstGeom prst="rect">
            <a:avLst/>
          </a:prstGeom>
          <a:noFill/>
          <a:ln w="9525">
            <a:noFill/>
            <a:miter lim="800000"/>
            <a:headEnd/>
            <a:tailEnd/>
          </a:ln>
          <a:effectLst/>
        </p:spPr>
      </p:pic>
      <p:pic>
        <p:nvPicPr>
          <p:cNvPr id="9" name="Picture 3"/>
          <p:cNvPicPr>
            <a:picLocks noChangeAspect="1" noChangeArrowheads="1"/>
          </p:cNvPicPr>
          <p:nvPr/>
        </p:nvPicPr>
        <p:blipFill>
          <a:blip r:embed="rId3"/>
          <a:srcRect/>
          <a:stretch>
            <a:fillRect/>
          </a:stretch>
        </p:blipFill>
        <p:spPr bwMode="auto">
          <a:xfrm>
            <a:off x="1193232" y="3989169"/>
            <a:ext cx="8119657" cy="1087328"/>
          </a:xfrm>
          <a:prstGeom prst="rect">
            <a:avLst/>
          </a:prstGeom>
          <a:noFill/>
          <a:ln w="9525">
            <a:noFill/>
            <a:miter lim="800000"/>
            <a:headEnd/>
            <a:tailEnd/>
          </a:ln>
          <a:effectLst/>
        </p:spPr>
      </p:pic>
      <p:pic>
        <p:nvPicPr>
          <p:cNvPr id="10" name="Picture 4"/>
          <p:cNvPicPr>
            <a:picLocks noChangeAspect="1" noChangeArrowheads="1"/>
          </p:cNvPicPr>
          <p:nvPr/>
        </p:nvPicPr>
        <p:blipFill>
          <a:blip r:embed="rId4"/>
          <a:srcRect/>
          <a:stretch>
            <a:fillRect/>
          </a:stretch>
        </p:blipFill>
        <p:spPr bwMode="auto">
          <a:xfrm>
            <a:off x="1212442" y="5581987"/>
            <a:ext cx="6915150" cy="108585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HAVING</a:t>
            </a:r>
            <a:r>
              <a:rPr lang="en-US" dirty="0" smtClean="0"/>
              <a:t> </a:t>
            </a:r>
            <a:endParaRPr lang="fr-FR" dirty="0" smtClean="0"/>
          </a:p>
        </p:txBody>
      </p:sp>
      <p:sp>
        <p:nvSpPr>
          <p:cNvPr id="5" name="Espace réservé du contenu 2"/>
          <p:cNvSpPr>
            <a:spLocks noGrp="1"/>
          </p:cNvSpPr>
          <p:nvPr>
            <p:ph sz="quarter" idx="1"/>
          </p:nvPr>
        </p:nvSpPr>
        <p:spPr>
          <a:xfrm>
            <a:off x="804042" y="1873469"/>
            <a:ext cx="9727324" cy="4572000"/>
          </a:xfrm>
        </p:spPr>
        <p:txBody>
          <a:bodyPr>
            <a:normAutofit/>
          </a:bodyPr>
          <a:lstStyle/>
          <a:p>
            <a:pPr algn="just"/>
            <a:r>
              <a:rPr lang="fr-FR" dirty="0" smtClean="0"/>
              <a:t>La condition HAVING en SQL est presque similaire à WHERE à la seule différence que HAVING permet de filtrer en utilisant des fonctions telles que SUM(), COUNT(), AVG(), MIN() ou MAX().</a:t>
            </a:r>
          </a:p>
          <a:p>
            <a:endParaRPr lang="fr-FR" dirty="0" smtClean="0"/>
          </a:p>
          <a:p>
            <a:pPr>
              <a:buNone/>
            </a:pPr>
            <a:endParaRPr lang="fr-FR" dirty="0" smtClean="0"/>
          </a:p>
        </p:txBody>
      </p:sp>
      <p:sp>
        <p:nvSpPr>
          <p:cNvPr id="6" name="ZoneTexte 5"/>
          <p:cNvSpPr txBox="1"/>
          <p:nvPr/>
        </p:nvSpPr>
        <p:spPr>
          <a:xfrm>
            <a:off x="914401" y="3704897"/>
            <a:ext cx="1142300" cy="369332"/>
          </a:xfrm>
          <a:prstGeom prst="rect">
            <a:avLst/>
          </a:prstGeom>
          <a:noFill/>
        </p:spPr>
        <p:txBody>
          <a:bodyPr wrap="none" rtlCol="0">
            <a:spAutoFit/>
          </a:bodyPr>
          <a:lstStyle/>
          <a:p>
            <a:r>
              <a:rPr lang="fr-FR" b="1" dirty="0" smtClean="0"/>
              <a:t>HAVING</a:t>
            </a:r>
            <a:endParaRPr lang="fr-FR" b="1" dirty="0"/>
            <a:r>
              <a:t> U</a:t>
            </a:r>
          </a:p>
        </p:txBody>
      </p:sp>
      <p:pic>
        <p:nvPicPr>
          <p:cNvPr id="7" name="Picture 2"/>
          <p:cNvPicPr>
            <a:picLocks noChangeAspect="1" noChangeArrowheads="1"/>
          </p:cNvPicPr>
          <p:nvPr/>
        </p:nvPicPr>
        <p:blipFill>
          <a:blip r:embed="rId2"/>
          <a:srcRect/>
          <a:stretch>
            <a:fillRect/>
          </a:stretch>
        </p:blipFill>
        <p:spPr bwMode="auto">
          <a:xfrm>
            <a:off x="1004044" y="4380849"/>
            <a:ext cx="9243615" cy="159428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HAVING</a:t>
            </a:r>
            <a:r>
              <a:rPr lang="en-US" dirty="0" smtClean="0"/>
              <a:t> </a:t>
            </a:r>
            <a:endParaRPr lang="fr-FR" dirty="0" smtClean="0"/>
          </a:p>
        </p:txBody>
      </p:sp>
      <p:pic>
        <p:nvPicPr>
          <p:cNvPr id="9" name="Picture 2"/>
          <p:cNvPicPr>
            <a:picLocks noGrp="1" noChangeAspect="1" noChangeArrowheads="1"/>
          </p:cNvPicPr>
          <p:nvPr>
            <p:ph sz="quarter" idx="1"/>
          </p:nvPr>
        </p:nvPicPr>
        <p:blipFill>
          <a:blip r:embed="rId2"/>
          <a:srcRect/>
          <a:stretch>
            <a:fillRect/>
          </a:stretch>
        </p:blipFill>
        <p:spPr bwMode="auto">
          <a:xfrm>
            <a:off x="1039020" y="1864752"/>
            <a:ext cx="8798662" cy="2097215"/>
          </a:xfrm>
          <a:prstGeom prst="rect">
            <a:avLst/>
          </a:prstGeom>
          <a:noFill/>
          <a:ln w="9525">
            <a:noFill/>
            <a:miter lim="800000"/>
            <a:headEnd/>
            <a:tailEnd/>
          </a:ln>
          <a:effectLst/>
        </p:spPr>
      </p:pic>
      <p:pic>
        <p:nvPicPr>
          <p:cNvPr id="10" name="Picture 4"/>
          <p:cNvPicPr>
            <a:picLocks noChangeAspect="1" noChangeArrowheads="1"/>
          </p:cNvPicPr>
          <p:nvPr/>
        </p:nvPicPr>
        <p:blipFill>
          <a:blip r:embed="rId3"/>
          <a:srcRect/>
          <a:stretch>
            <a:fillRect/>
          </a:stretch>
        </p:blipFill>
        <p:spPr bwMode="auto">
          <a:xfrm>
            <a:off x="1029173" y="4132044"/>
            <a:ext cx="7500049" cy="1228231"/>
          </a:xfrm>
          <a:prstGeom prst="rect">
            <a:avLst/>
          </a:prstGeom>
          <a:noFill/>
          <a:ln w="9525">
            <a:noFill/>
            <a:miter lim="800000"/>
            <a:headEnd/>
            <a:tailEnd/>
          </a:ln>
          <a:effectLst/>
        </p:spPr>
      </p:pic>
      <p:pic>
        <p:nvPicPr>
          <p:cNvPr id="11" name="Picture 5"/>
          <p:cNvPicPr>
            <a:picLocks noChangeAspect="1" noChangeArrowheads="1"/>
          </p:cNvPicPr>
          <p:nvPr/>
        </p:nvPicPr>
        <p:blipFill>
          <a:blip r:embed="rId4"/>
          <a:srcRect/>
          <a:stretch>
            <a:fillRect/>
          </a:stretch>
        </p:blipFill>
        <p:spPr bwMode="auto">
          <a:xfrm>
            <a:off x="1063161" y="5654412"/>
            <a:ext cx="6905625" cy="800100"/>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Type de bois">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ype de bois">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ype de bois">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xmlns="" name="Wood Type" id="{7ACABC62-BF99-48CF-A9DC-4DB89C7B13DC}" vid="{142A1326-48AB-42A9-8428-CB14AA30176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TM03090434[[fn=Type de bois]]</Template>
  <TotalTime>2530</TotalTime>
  <Words>844</Words>
  <Application>Microsoft Office PowerPoint</Application>
  <PresentationFormat>Personnalisé</PresentationFormat>
  <Paragraphs>143</Paragraphs>
  <Slides>27</Slides>
  <Notes>2</Notes>
  <HiddenSlides>0</HiddenSlides>
  <MMClips>0</MMClips>
  <ScaleCrop>false</ScaleCrop>
  <HeadingPairs>
    <vt:vector size="4" baseType="variant">
      <vt:variant>
        <vt:lpstr>Thème</vt:lpstr>
      </vt:variant>
      <vt:variant>
        <vt:i4>1</vt:i4>
      </vt:variant>
      <vt:variant>
        <vt:lpstr>Titres des diapositives</vt:lpstr>
      </vt:variant>
      <vt:variant>
        <vt:i4>27</vt:i4>
      </vt:variant>
    </vt:vector>
  </HeadingPairs>
  <TitlesOfParts>
    <vt:vector size="28" baseType="lpstr">
      <vt:lpstr>Type de bois</vt:lpstr>
      <vt:lpstr>LMD(Data Manipulation Language)</vt:lpstr>
      <vt:lpstr>LMD</vt:lpstr>
      <vt:lpstr>Diapositive 3</vt:lpstr>
      <vt:lpstr>Diapositive 4</vt:lpstr>
      <vt:lpstr>Diapositive 5</vt:lpstr>
      <vt:lpstr>Diapositive 6</vt:lpstr>
      <vt:lpstr>Diapositive 7</vt:lpstr>
      <vt:lpstr>Diapositive 8</vt:lpstr>
      <vt:lpstr>Diapositive 9</vt:lpstr>
      <vt:lpstr>Diapositive 10</vt:lpstr>
      <vt:lpstr>Diapositive 11</vt:lpstr>
      <vt:lpstr>LMD(Data Manipulation Language)</vt:lpstr>
      <vt:lpstr>Diapositive 13</vt:lpstr>
      <vt:lpstr>Diapositive 14</vt:lpstr>
      <vt:lpstr>Diapositive 15</vt:lpstr>
      <vt:lpstr>Diapositive 16</vt:lpstr>
      <vt:lpstr>Diapositive 17</vt:lpstr>
      <vt:lpstr>Diapositive 18</vt:lpstr>
      <vt:lpstr>LMD(Data Manipulation Language)</vt:lpstr>
      <vt:lpstr>LIKE</vt:lpstr>
      <vt:lpstr>LIKE</vt:lpstr>
      <vt:lpstr>IS NULL / IS NOT NULL </vt:lpstr>
      <vt:lpstr>fonctions de statistique </vt:lpstr>
      <vt:lpstr>GROUP BY </vt:lpstr>
      <vt:lpstr>GROUP BY </vt:lpstr>
      <vt:lpstr>HAVING </vt:lpstr>
      <vt:lpstr>HAVING </vt:lpstr>
    </vt:vector>
  </TitlesOfParts>
  <Company>Cirad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Genie Logiciel</dc:title>
  <dc:creator>Jerome Queste</dc:creator>
  <cp:lastModifiedBy>Aris</cp:lastModifiedBy>
  <cp:revision>292</cp:revision>
  <dcterms:created xsi:type="dcterms:W3CDTF">2016-09-07T16:54:49Z</dcterms:created>
  <dcterms:modified xsi:type="dcterms:W3CDTF">2023-02-28T11:11:12Z</dcterms:modified>
</cp:coreProperties>
</file>