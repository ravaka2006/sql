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Default Extension="wdp" ContentType="image/vnd.ms-photo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20"/>
  </p:notesMasterIdLst>
  <p:sldIdLst>
    <p:sldId id="430" r:id="rId2"/>
    <p:sldId id="444" r:id="rId3"/>
    <p:sldId id="445" r:id="rId4"/>
    <p:sldId id="454" r:id="rId5"/>
    <p:sldId id="446" r:id="rId6"/>
    <p:sldId id="455" r:id="rId7"/>
    <p:sldId id="447" r:id="rId8"/>
    <p:sldId id="450" r:id="rId9"/>
    <p:sldId id="451" r:id="rId10"/>
    <p:sldId id="437" r:id="rId11"/>
    <p:sldId id="439" r:id="rId12"/>
    <p:sldId id="438" r:id="rId13"/>
    <p:sldId id="440" r:id="rId14"/>
    <p:sldId id="441" r:id="rId15"/>
    <p:sldId id="442" r:id="rId16"/>
    <p:sldId id="443" r:id="rId17"/>
    <p:sldId id="453" r:id="rId18"/>
    <p:sldId id="452" r:id="rId1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53" autoAdjust="0"/>
    <p:restoredTop sz="94624" autoAdjust="0"/>
  </p:normalViewPr>
  <p:slideViewPr>
    <p:cSldViewPr snapToGrid="0">
      <p:cViewPr>
        <p:scale>
          <a:sx n="70" d="100"/>
          <a:sy n="70" d="100"/>
        </p:scale>
        <p:origin x="-630" y="-25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x-non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43155B-2698-4E75-990E-43582F47F256}" type="datetimeFigureOut">
              <a:rPr lang="x-none" smtClean="0"/>
              <a:pPr/>
              <a:t>18/02/2022</a:t>
            </a:fld>
            <a:endParaRPr lang="x-none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x-none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x-non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x-non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A7646F-D579-441F-9534-C8C052878CA4}" type="slidenum">
              <a:rPr lang="x-none" smtClean="0"/>
              <a:pPr/>
              <a:t>‹N°›</a:t>
            </a:fld>
            <a:endParaRPr lang="x-none"/>
          </a:p>
        </p:txBody>
      </p:sp>
    </p:spTree>
    <p:extLst>
      <p:ext uri="{BB962C8B-B14F-4D97-AF65-F5344CB8AC3E}">
        <p14:creationId xmlns="" xmlns:p14="http://schemas.microsoft.com/office/powerpoint/2010/main" val="6584887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 cstate="print">
              <a:alphaModFix amt="85000"/>
              <a:lum bright="70000" contrast="-70000"/>
              <a:extLst>
                <a:ext uri="{BEBA8EAE-BF5A-486C-A8C5-ECC9F3942E4B}">
                  <a14:imgProps xmlns=""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 cstate="print">
              <a:alphaModFix amt="85000"/>
              <a:lum bright="70000" contrast="-70000"/>
              <a:extLst>
                <a:ext uri="{BEBA8EAE-BF5A-486C-A8C5-ECC9F3942E4B}">
                  <a14:imgProps xmlns=""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 cstate="print">
              <a:alphaModFix amt="85000"/>
              <a:lum bright="70000" contrast="-70000"/>
              <a:extLst>
                <a:ext uri="{BEBA8EAE-BF5A-486C-A8C5-ECC9F3942E4B}">
                  <a14:imgProps xmlns=""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 cstate="print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=""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F9597-7059-47EE-95F2-CA44BC3CD0B9}" type="datetimeFigureOut">
              <a:rPr lang="fr-FR" smtClean="0"/>
              <a:pPr/>
              <a:t>18/02/2022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74C99C63-A67C-4468-87A2-B4CF5B44918A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="" xmlns:p14="http://schemas.microsoft.com/office/powerpoint/2010/main" val="13590549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F9597-7059-47EE-95F2-CA44BC3CD0B9}" type="datetimeFigureOut">
              <a:rPr lang="fr-FR" smtClean="0"/>
              <a:pPr/>
              <a:t>18/02/2022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99C63-A67C-4468-87A2-B4CF5B44918A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="" xmlns:p14="http://schemas.microsoft.com/office/powerpoint/2010/main" val="21564711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 cstate="print">
              <a:alphaModFix amt="85000"/>
              <a:lum bright="70000" contrast="-70000"/>
              <a:extLst>
                <a:ext uri="{BEBA8EAE-BF5A-486C-A8C5-ECC9F3942E4B}">
                  <a14:imgProps xmlns=""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645F9597-7059-47EE-95F2-CA44BC3CD0B9}" type="datetimeFigureOut">
              <a:rPr lang="fr-FR" smtClean="0"/>
              <a:pPr/>
              <a:t>18/02/2022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fr-FR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 cstate="print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=""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74C99C63-A67C-4468-87A2-B4CF5B44918A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="" xmlns:p14="http://schemas.microsoft.com/office/powerpoint/2010/main" val="6204270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F9597-7059-47EE-95F2-CA44BC3CD0B9}" type="datetimeFigureOut">
              <a:rPr lang="fr-FR" smtClean="0"/>
              <a:pPr/>
              <a:t>18/02/2022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99C63-A67C-4468-87A2-B4CF5B44918A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="" xmlns:p14="http://schemas.microsoft.com/office/powerpoint/2010/main" val="3404188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F9597-7059-47EE-95F2-CA44BC3CD0B9}" type="datetimeFigureOut">
              <a:rPr lang="fr-FR" smtClean="0"/>
              <a:pPr/>
              <a:t>18/02/2022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99C63-A67C-4468-87A2-B4CF5B44918A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="" xmlns:p14="http://schemas.microsoft.com/office/powerpoint/2010/main" val="37608286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F9597-7059-47EE-95F2-CA44BC3CD0B9}" type="datetimeFigureOut">
              <a:rPr lang="fr-FR" smtClean="0"/>
              <a:pPr/>
              <a:t>18/02/2022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99C63-A67C-4468-87A2-B4CF5B44918A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="" xmlns:p14="http://schemas.microsoft.com/office/powerpoint/2010/main" val="3677815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F9597-7059-47EE-95F2-CA44BC3CD0B9}" type="datetimeFigureOut">
              <a:rPr lang="fr-FR" smtClean="0"/>
              <a:pPr/>
              <a:t>18/02/2022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99C63-A67C-4468-87A2-B4CF5B44918A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="" xmlns:p14="http://schemas.microsoft.com/office/powerpoint/2010/main" val="29784087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 cstate="print">
              <a:alphaModFix amt="60000"/>
              <a:lum bright="70000" contrast="-70000"/>
              <a:extLst>
                <a:ext uri="{BEBA8EAE-BF5A-486C-A8C5-ECC9F3942E4B}">
                  <a14:imgProps xmlns=""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F9597-7059-47EE-95F2-CA44BC3CD0B9}" type="datetimeFigureOut">
              <a:rPr lang="fr-FR" smtClean="0"/>
              <a:pPr/>
              <a:t>18/02/2022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 cstate="print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=""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99C63-A67C-4468-87A2-B4CF5B44918A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="" xmlns:p14="http://schemas.microsoft.com/office/powerpoint/2010/main" val="1761765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 cstate="print">
              <a:alphaModFix amt="60000"/>
              <a:lum bright="70000" contrast="-70000"/>
              <a:extLst>
                <a:ext uri="{BEBA8EAE-BF5A-486C-A8C5-ECC9F3942E4B}">
                  <a14:imgProps xmlns=""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dirty="0" smtClean="0"/>
              <a:t>Cliquez </a:t>
            </a:r>
            <a:r>
              <a:rPr lang="fr-FR"/>
              <a:t>sur </a:t>
            </a:r>
            <a:r>
              <a:rPr lang="fr-FR" smtClean="0"/>
              <a:t>l icône </a:t>
            </a:r>
            <a:r>
              <a:rPr lang="fr-FR" dirty="0"/>
              <a:t>pour </a:t>
            </a:r>
            <a:r>
              <a:rPr lang="fr-FR" dirty="0" smtClean="0"/>
              <a:t>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F9597-7059-47EE-95F2-CA44BC3CD0B9}" type="datetimeFigureOut">
              <a:rPr lang="fr-FR" smtClean="0"/>
              <a:pPr/>
              <a:t>18/02/2022</a:t>
            </a:fld>
            <a:endParaRPr lang="fr-FR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 cstate="print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=""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99C63-A67C-4468-87A2-B4CF5B44918A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="" xmlns:p14="http://schemas.microsoft.com/office/powerpoint/2010/main" val="3045602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F9597-7059-47EE-95F2-CA44BC3CD0B9}" type="datetimeFigureOut">
              <a:rPr lang="fr-FR" smtClean="0"/>
              <a:pPr/>
              <a:t>18/02/2022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99C63-A67C-4468-87A2-B4CF5B44918A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="" xmlns:p14="http://schemas.microsoft.com/office/powerpoint/2010/main" val="319957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F9597-7059-47EE-95F2-CA44BC3CD0B9}" type="datetimeFigureOut">
              <a:rPr lang="fr-FR" smtClean="0"/>
              <a:pPr/>
              <a:t>18/02/2022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99C63-A67C-4468-87A2-B4CF5B44918A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="" xmlns:p14="http://schemas.microsoft.com/office/powerpoint/2010/main" val="1678084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645F9597-7059-47EE-95F2-CA44BC3CD0B9}" type="datetimeFigureOut">
              <a:rPr lang="fr-FR" smtClean="0"/>
              <a:pPr/>
              <a:t>18/02/2022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 cstate="print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=""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74C99C63-A67C-4468-87A2-B4CF5B44918A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="" xmlns:p14="http://schemas.microsoft.com/office/powerpoint/2010/main" val="1473509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xmlns="" id="{59E86273-66FB-4801-A4B3-A895DFAD1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4414" y="1394122"/>
            <a:ext cx="9757586" cy="3520440"/>
          </a:xfrm>
        </p:spPr>
        <p:txBody>
          <a:bodyPr>
            <a:normAutofit/>
          </a:bodyPr>
          <a:lstStyle/>
          <a:p>
            <a:r>
              <a:rPr lang="fr-FR" sz="4400" dirty="0" smtClean="0"/>
              <a:t>Jointures sous SQL</a:t>
            </a:r>
            <a:endParaRPr lang="x-none" sz="4400" dirty="0"/>
          </a:p>
        </p:txBody>
      </p:sp>
      <p:sp>
        <p:nvSpPr>
          <p:cNvPr id="6" name="Espace réservé du texte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Suite(4)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xmlns="" val="2800195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 smtClean="0"/>
              <a:t>REQUETE MULTI-TABLES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69848" y="2121408"/>
            <a:ext cx="10058400" cy="921337"/>
          </a:xfrm>
        </p:spPr>
        <p:txBody>
          <a:bodyPr/>
          <a:lstStyle/>
          <a:p>
            <a:pPr algn="just"/>
            <a:r>
              <a:rPr lang="fr-FR" dirty="0" smtClean="0"/>
              <a:t>La requête multi-tables  permet de confronter des colonnes dans des tables différentes mais liées à partir de la clé étrangère ou autres colonnes communes.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1227218" y="3285623"/>
            <a:ext cx="8957305" cy="1021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880" indent="-182880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</a:pPr>
            <a:r>
              <a:rPr lang="fr-FR" sz="2000" b="1" dirty="0" smtClean="0"/>
              <a:t>Syntaxe:</a:t>
            </a:r>
          </a:p>
          <a:p>
            <a:pPr marL="182880" indent="-182880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</a:pPr>
            <a:r>
              <a:rPr lang="fr-FR" dirty="0" smtClean="0"/>
              <a:t>   Select table1.colonne1,table2.colonne1,table2.colonne2 </a:t>
            </a:r>
            <a:r>
              <a:rPr lang="fr-FR" dirty="0" err="1" smtClean="0"/>
              <a:t>from</a:t>
            </a:r>
            <a:r>
              <a:rPr lang="fr-FR" dirty="0" smtClean="0"/>
              <a:t> table 1,table 2 </a:t>
            </a:r>
            <a:r>
              <a:rPr lang="fr-FR" dirty="0" err="1" smtClean="0"/>
              <a:t>where</a:t>
            </a:r>
            <a:r>
              <a:rPr lang="fr-FR" dirty="0" smtClean="0"/>
              <a:t> table1.id_tab1=table2.id_tab1</a:t>
            </a:r>
            <a:endParaRPr lang="fr-FR" dirty="0"/>
          </a:p>
        </p:txBody>
      </p:sp>
      <p:sp>
        <p:nvSpPr>
          <p:cNvPr id="9" name="ZoneTexte 8"/>
          <p:cNvSpPr txBox="1"/>
          <p:nvPr/>
        </p:nvSpPr>
        <p:spPr>
          <a:xfrm>
            <a:off x="1229710" y="5312979"/>
            <a:ext cx="89863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smtClean="0"/>
              <a:t>Exemple:</a:t>
            </a:r>
          </a:p>
          <a:p>
            <a:r>
              <a:rPr lang="fr-FR" dirty="0" smtClean="0"/>
              <a:t>select client.nom,facture.montant </a:t>
            </a:r>
            <a:r>
              <a:rPr lang="fr-FR" dirty="0" err="1" smtClean="0"/>
              <a:t>from</a:t>
            </a:r>
            <a:r>
              <a:rPr lang="fr-FR" dirty="0" smtClean="0"/>
              <a:t> </a:t>
            </a:r>
            <a:r>
              <a:rPr lang="fr-FR" dirty="0" err="1" smtClean="0"/>
              <a:t>client,facture</a:t>
            </a:r>
            <a:r>
              <a:rPr lang="fr-FR" dirty="0" smtClean="0"/>
              <a:t> </a:t>
            </a:r>
            <a:r>
              <a:rPr lang="fr-FR" dirty="0" err="1" smtClean="0"/>
              <a:t>where</a:t>
            </a:r>
            <a:r>
              <a:rPr lang="fr-FR" dirty="0" smtClean="0"/>
              <a:t> </a:t>
            </a:r>
            <a:r>
              <a:rPr lang="fr-FR" dirty="0" err="1" smtClean="0"/>
              <a:t>client.ncli</a:t>
            </a:r>
            <a:r>
              <a:rPr lang="fr-FR" dirty="0" smtClean="0"/>
              <a:t>=</a:t>
            </a:r>
            <a:r>
              <a:rPr lang="fr-FR" dirty="0" err="1" smtClean="0"/>
              <a:t>facture.ncli</a:t>
            </a:r>
            <a:r>
              <a:rPr lang="fr-FR" dirty="0" smtClean="0"/>
              <a:t> ;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 smtClean="0"/>
              <a:t>INNER JOIN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69848" y="2121408"/>
            <a:ext cx="10058400" cy="921337"/>
          </a:xfrm>
        </p:spPr>
        <p:txBody>
          <a:bodyPr/>
          <a:lstStyle/>
          <a:p>
            <a:pPr algn="just"/>
            <a:r>
              <a:rPr lang="fr-FR" dirty="0" smtClean="0"/>
              <a:t> C’est une jointure interne pour retourner les enregistrements quand la condition est vraie dans les 2 tables. 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1242985" y="3474809"/>
            <a:ext cx="7715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880" indent="-182880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</a:pPr>
            <a:r>
              <a:rPr lang="fr-FR" sz="2000" b="1" dirty="0" smtClean="0"/>
              <a:t>Syntaxe:</a:t>
            </a:r>
            <a:endParaRPr lang="fr-FR" sz="2000" b="1" dirty="0"/>
          </a:p>
        </p:txBody>
      </p:sp>
      <p:pic>
        <p:nvPicPr>
          <p:cNvPr id="1026" name="Picture 2" descr="C:\Users\E\Desktop\Images\sql-ensemble-intersect-3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911661" y="2970268"/>
            <a:ext cx="3810000" cy="2273300"/>
          </a:xfrm>
          <a:prstGeom prst="rect">
            <a:avLst/>
          </a:prstGeom>
          <a:noFill/>
        </p:spPr>
      </p:pic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1277006" y="4272456"/>
            <a:ext cx="5785945" cy="538206"/>
          </a:xfrm>
          <a:prstGeom prst="rect">
            <a:avLst/>
          </a:prstGeom>
          <a:solidFill>
            <a:srgbClr val="F4F4F4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258681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b="0" i="0" u="none" strike="noStrike" cap="none" normalizeH="0" baseline="0" dirty="0" smtClean="0">
                <a:ln>
                  <a:noFill/>
                </a:ln>
                <a:solidFill>
                  <a:srgbClr val="373737"/>
                </a:solidFill>
                <a:effectLst/>
                <a:latin typeface="Courier 10 Pitch"/>
                <a:cs typeface="Arial" pitchFamily="34" charset="0"/>
              </a:rPr>
              <a:t>SELECT * FROM  A   INNER JOIN B ON A.key = B.key</a:t>
            </a:r>
            <a:r>
              <a:rPr kumimoji="0" lang="fr-F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 smtClean="0"/>
              <a:t>INNER JOIN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420516" y="1787080"/>
            <a:ext cx="7715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880" indent="-182880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</a:pPr>
            <a:r>
              <a:rPr lang="fr-FR" sz="2000" b="1" dirty="0" smtClean="0"/>
              <a:t>Exemple:</a:t>
            </a:r>
            <a:endParaRPr lang="fr-FR" sz="2000" b="1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10040" y="2127328"/>
            <a:ext cx="5580121" cy="26584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169556" y="2124166"/>
            <a:ext cx="6022444" cy="275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20634" y="4914900"/>
            <a:ext cx="5557652" cy="1943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4017171" y="405354"/>
            <a:ext cx="6127668" cy="1092204"/>
          </a:xfrm>
          <a:prstGeom prst="rect">
            <a:avLst/>
          </a:prstGeom>
          <a:solidFill>
            <a:srgbClr val="F4F4F4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258681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b="0" i="0" u="none" strike="noStrike" cap="none" normalizeH="0" baseline="0" dirty="0" smtClean="0">
                <a:ln>
                  <a:noFill/>
                </a:ln>
                <a:solidFill>
                  <a:srgbClr val="373737"/>
                </a:solidFill>
                <a:effectLst/>
                <a:latin typeface="Courier 10 Pitch"/>
                <a:cs typeface="Arial" pitchFamily="34" charset="0"/>
              </a:rPr>
              <a:t>SELECT id, </a:t>
            </a:r>
            <a:r>
              <a:rPr kumimoji="0" lang="fr-FR" b="0" i="0" u="none" strike="noStrike" cap="none" normalizeH="0" baseline="0" dirty="0" err="1" smtClean="0">
                <a:ln>
                  <a:noFill/>
                </a:ln>
                <a:solidFill>
                  <a:srgbClr val="373737"/>
                </a:solidFill>
                <a:effectLst/>
                <a:latin typeface="Courier 10 Pitch"/>
                <a:cs typeface="Arial" pitchFamily="34" charset="0"/>
              </a:rPr>
              <a:t>prenom</a:t>
            </a:r>
            <a:r>
              <a:rPr kumimoji="0" lang="fr-FR" b="0" i="0" u="none" strike="noStrike" cap="none" normalizeH="0" baseline="0" dirty="0" smtClean="0">
                <a:ln>
                  <a:noFill/>
                </a:ln>
                <a:solidFill>
                  <a:srgbClr val="373737"/>
                </a:solidFill>
                <a:effectLst/>
                <a:latin typeface="Courier 10 Pitch"/>
                <a:cs typeface="Arial" pitchFamily="34" charset="0"/>
              </a:rPr>
              <a:t>, nom, </a:t>
            </a:r>
            <a:r>
              <a:rPr kumimoji="0" lang="fr-FR" b="0" i="0" u="none" strike="noStrike" cap="none" normalizeH="0" baseline="0" dirty="0" err="1" smtClean="0">
                <a:ln>
                  <a:noFill/>
                </a:ln>
                <a:solidFill>
                  <a:srgbClr val="373737"/>
                </a:solidFill>
                <a:effectLst/>
                <a:latin typeface="Courier 10 Pitch"/>
                <a:cs typeface="Arial" pitchFamily="34" charset="0"/>
              </a:rPr>
              <a:t>date_achat</a:t>
            </a:r>
            <a:r>
              <a:rPr kumimoji="0" lang="fr-FR" b="0" i="0" u="none" strike="noStrike" cap="none" normalizeH="0" baseline="0" dirty="0" smtClean="0">
                <a:ln>
                  <a:noFill/>
                </a:ln>
                <a:solidFill>
                  <a:srgbClr val="373737"/>
                </a:solidFill>
                <a:effectLst/>
                <a:latin typeface="Courier 10 Pitch"/>
                <a:cs typeface="Arial" pitchFamily="34" charset="0"/>
              </a:rPr>
              <a:t>, </a:t>
            </a:r>
            <a:r>
              <a:rPr kumimoji="0" lang="fr-FR" b="0" i="0" u="none" strike="noStrike" cap="none" normalizeH="0" baseline="0" dirty="0" err="1" smtClean="0">
                <a:ln>
                  <a:noFill/>
                </a:ln>
                <a:solidFill>
                  <a:srgbClr val="373737"/>
                </a:solidFill>
                <a:effectLst/>
                <a:latin typeface="Courier 10 Pitch"/>
                <a:cs typeface="Arial" pitchFamily="34" charset="0"/>
              </a:rPr>
              <a:t>num_facture</a:t>
            </a:r>
            <a:r>
              <a:rPr kumimoji="0" lang="fr-FR" b="0" i="0" u="none" strike="noStrike" cap="none" normalizeH="0" baseline="0" dirty="0" smtClean="0">
                <a:ln>
                  <a:noFill/>
                </a:ln>
                <a:solidFill>
                  <a:srgbClr val="373737"/>
                </a:solidFill>
                <a:effectLst/>
                <a:latin typeface="Courier 10 Pitch"/>
                <a:cs typeface="Arial" pitchFamily="34" charset="0"/>
              </a:rPr>
              <a:t>, </a:t>
            </a:r>
            <a:r>
              <a:rPr kumimoji="0" lang="fr-FR" b="0" i="0" u="none" strike="noStrike" cap="none" normalizeH="0" baseline="0" dirty="0" err="1" smtClean="0">
                <a:ln>
                  <a:noFill/>
                </a:ln>
                <a:solidFill>
                  <a:srgbClr val="373737"/>
                </a:solidFill>
                <a:effectLst/>
                <a:latin typeface="Courier 10 Pitch"/>
                <a:cs typeface="Arial" pitchFamily="34" charset="0"/>
              </a:rPr>
              <a:t>prix_total</a:t>
            </a:r>
            <a:r>
              <a:rPr kumimoji="0" lang="fr-FR" b="0" i="0" u="none" strike="noStrike" cap="none" normalizeH="0" baseline="0" dirty="0" smtClean="0">
                <a:ln>
                  <a:noFill/>
                </a:ln>
                <a:solidFill>
                  <a:srgbClr val="373737"/>
                </a:solidFill>
                <a:effectLst/>
                <a:latin typeface="Courier 10 Pitch"/>
                <a:cs typeface="Arial" pitchFamily="34" charset="0"/>
              </a:rPr>
              <a:t> FROM utilisateur INNER JOIN commande ON utilisateur.id = commande.</a:t>
            </a:r>
            <a:r>
              <a:rPr kumimoji="0" lang="fr-FR" b="0" i="0" u="none" strike="noStrike" cap="none" normalizeH="0" baseline="0" dirty="0" err="1" smtClean="0">
                <a:ln>
                  <a:noFill/>
                </a:ln>
                <a:solidFill>
                  <a:srgbClr val="373737"/>
                </a:solidFill>
                <a:effectLst/>
                <a:latin typeface="Courier 10 Pitch"/>
                <a:cs typeface="Arial" pitchFamily="34" charset="0"/>
              </a:rPr>
              <a:t>utilisateur_id</a:t>
            </a:r>
            <a:r>
              <a:rPr kumimoji="0" lang="fr-F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 err="1" smtClean="0"/>
              <a:t>Left</a:t>
            </a:r>
            <a:r>
              <a:rPr lang="fr-FR" dirty="0" smtClean="0"/>
              <a:t> </a:t>
            </a:r>
            <a:r>
              <a:rPr lang="fr-FR" dirty="0" err="1" smtClean="0"/>
              <a:t>join</a:t>
            </a:r>
            <a:endParaRPr lang="fr-FR" dirty="0" smtClean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69848" y="2121408"/>
            <a:ext cx="10058400" cy="921337"/>
          </a:xfrm>
        </p:spPr>
        <p:txBody>
          <a:bodyPr/>
          <a:lstStyle/>
          <a:p>
            <a:pPr algn="just"/>
            <a:r>
              <a:rPr lang="fr-FR" dirty="0" smtClean="0"/>
              <a:t>Jointure externe pour retourner tous les enregistrements de la table gauche (LEFT = gauche) même si la condition n’est pas vérifiée dans l’autre table.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1242985" y="3474809"/>
            <a:ext cx="7715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880" indent="-182880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</a:pPr>
            <a:r>
              <a:rPr lang="fr-FR" sz="2000" b="1" dirty="0" smtClean="0"/>
              <a:t>Syntaxe:</a:t>
            </a:r>
            <a:endParaRPr lang="fr-FR" sz="2000" b="1" dirty="0"/>
          </a:p>
        </p:txBody>
      </p:sp>
      <p:sp>
        <p:nvSpPr>
          <p:cNvPr id="31745" name="Rectangle 1"/>
          <p:cNvSpPr>
            <a:spLocks noChangeArrowheads="1"/>
          </p:cNvSpPr>
          <p:nvPr/>
        </p:nvSpPr>
        <p:spPr bwMode="auto">
          <a:xfrm>
            <a:off x="1166649" y="4272456"/>
            <a:ext cx="6101255" cy="876760"/>
          </a:xfrm>
          <a:prstGeom prst="rect">
            <a:avLst/>
          </a:prstGeom>
          <a:solidFill>
            <a:srgbClr val="F4F4F4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258681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2000" b="0" i="0" u="none" strike="noStrike" cap="none" normalizeH="0" baseline="0" dirty="0" smtClean="0">
                <a:ln>
                  <a:noFill/>
                </a:ln>
                <a:solidFill>
                  <a:srgbClr val="373737"/>
                </a:solidFill>
                <a:effectLst/>
                <a:latin typeface="Courier 10 Pitch"/>
                <a:cs typeface="Arial" pitchFamily="34" charset="0"/>
              </a:rPr>
              <a:t>SELECT * FROM A LEFT JOIN B ON A.key = B.key</a:t>
            </a:r>
            <a:r>
              <a:rPr kumimoji="0" lang="fr-F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/>
            </a:r>
            <a:br>
              <a:rPr kumimoji="0" lang="fr-F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</a:br>
            <a:endParaRPr kumimoji="0" lang="fr-FR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31746" name="Picture 2" descr="C:\Users\E\Desktop\Images\sql-left-join-3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085082" y="3395936"/>
            <a:ext cx="3810000" cy="22733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 err="1" smtClean="0"/>
              <a:t>Left</a:t>
            </a:r>
            <a:r>
              <a:rPr lang="fr-FR" dirty="0" smtClean="0"/>
              <a:t> </a:t>
            </a:r>
            <a:r>
              <a:rPr lang="fr-FR" dirty="0" err="1" smtClean="0"/>
              <a:t>join</a:t>
            </a:r>
            <a:endParaRPr lang="fr-FR" dirty="0" smtClean="0"/>
          </a:p>
        </p:txBody>
      </p:sp>
      <p:sp>
        <p:nvSpPr>
          <p:cNvPr id="6" name="ZoneTexte 5"/>
          <p:cNvSpPr txBox="1"/>
          <p:nvPr/>
        </p:nvSpPr>
        <p:spPr>
          <a:xfrm>
            <a:off x="324132" y="1738291"/>
            <a:ext cx="7715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880" indent="-182880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</a:pPr>
            <a:r>
              <a:rPr lang="fr-FR" sz="2000" b="1" dirty="0" smtClean="0"/>
              <a:t>Exemple:</a:t>
            </a:r>
            <a:endParaRPr lang="fr-FR" sz="2000" b="1" dirty="0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10040" y="1684228"/>
            <a:ext cx="5580121" cy="26584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169556" y="1642966"/>
            <a:ext cx="6022444" cy="275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61950" y="4381500"/>
            <a:ext cx="5504399" cy="247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1747" name="Rectangle 3"/>
          <p:cNvSpPr>
            <a:spLocks noChangeArrowheads="1"/>
          </p:cNvSpPr>
          <p:nvPr/>
        </p:nvSpPr>
        <p:spPr bwMode="auto">
          <a:xfrm>
            <a:off x="6305550" y="5410200"/>
            <a:ext cx="5886450" cy="1369203"/>
          </a:xfrm>
          <a:prstGeom prst="rect">
            <a:avLst/>
          </a:prstGeom>
          <a:solidFill>
            <a:srgbClr val="F4F4F4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258681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rgbClr val="373737"/>
                </a:solidFill>
                <a:effectLst/>
                <a:latin typeface="Courier 10 Pitch"/>
                <a:cs typeface="Arial" pitchFamily="34" charset="0"/>
              </a:rPr>
              <a:t>SELECT * FROM utilisateur LEFT JOIN commande ON utilisateur.id = commande.</a:t>
            </a:r>
            <a:r>
              <a:rPr kumimoji="0" lang="fr-FR" sz="2400" b="0" i="0" u="none" strike="noStrike" cap="none" normalizeH="0" baseline="0" dirty="0" err="1" smtClean="0">
                <a:ln>
                  <a:noFill/>
                </a:ln>
                <a:solidFill>
                  <a:srgbClr val="373737"/>
                </a:solidFill>
                <a:effectLst/>
                <a:latin typeface="Courier 10 Pitch"/>
                <a:cs typeface="Arial" pitchFamily="34" charset="0"/>
              </a:rPr>
              <a:t>utilisateur_id</a:t>
            </a:r>
            <a:r>
              <a:rPr kumimoji="0" lang="fr-F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 err="1" smtClean="0"/>
              <a:t>Left</a:t>
            </a:r>
            <a:r>
              <a:rPr lang="fr-FR" dirty="0" smtClean="0"/>
              <a:t> </a:t>
            </a:r>
            <a:r>
              <a:rPr lang="fr-FR" dirty="0" err="1" smtClean="0"/>
              <a:t>join</a:t>
            </a:r>
            <a:r>
              <a:rPr lang="fr-FR" dirty="0" smtClean="0"/>
              <a:t>(sans intersection)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69848" y="2121408"/>
            <a:ext cx="10058400" cy="921337"/>
          </a:xfrm>
        </p:spPr>
        <p:txBody>
          <a:bodyPr/>
          <a:lstStyle/>
          <a:p>
            <a:pPr algn="just"/>
            <a:r>
              <a:rPr lang="fr-FR" dirty="0" smtClean="0"/>
              <a:t>Jointure externe pour retourner tous les enregistrements de la table gauche (LEFT = gauche) même si la condition n’est pas vérifiée dans l’autre table.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1242985" y="3474809"/>
            <a:ext cx="7715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880" indent="-182880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</a:pPr>
            <a:r>
              <a:rPr lang="fr-FR" sz="2000" b="1" dirty="0" smtClean="0"/>
              <a:t>Syntaxe:</a:t>
            </a:r>
            <a:endParaRPr lang="fr-FR" sz="2000" b="1" dirty="0"/>
          </a:p>
        </p:txBody>
      </p:sp>
      <p:sp>
        <p:nvSpPr>
          <p:cNvPr id="31745" name="Rectangle 1"/>
          <p:cNvSpPr>
            <a:spLocks noChangeArrowheads="1"/>
          </p:cNvSpPr>
          <p:nvPr/>
        </p:nvSpPr>
        <p:spPr bwMode="auto">
          <a:xfrm>
            <a:off x="1166649" y="4272456"/>
            <a:ext cx="6101255" cy="1184537"/>
          </a:xfrm>
          <a:prstGeom prst="rect">
            <a:avLst/>
          </a:prstGeom>
          <a:solidFill>
            <a:srgbClr val="F4F4F4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258681" numCol="1" anchor="ctr" anchorCtr="0" compatLnSpc="1">
            <a:prstTxWarp prst="textNoShape">
              <a:avLst/>
            </a:prstTxWarp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2000" dirty="0" smtClean="0"/>
              <a:t>SELECT * FROM A LEFT JOIN B ON </a:t>
            </a:r>
            <a:r>
              <a:rPr lang="en-US" sz="2000" dirty="0" err="1" smtClean="0"/>
              <a:t>A.key</a:t>
            </a:r>
            <a:r>
              <a:rPr lang="en-US" sz="2000" dirty="0" smtClean="0"/>
              <a:t> = </a:t>
            </a:r>
            <a:r>
              <a:rPr lang="en-US" sz="2000" dirty="0" err="1" smtClean="0"/>
              <a:t>B.key</a:t>
            </a:r>
            <a:r>
              <a:rPr lang="en-US" sz="2000" dirty="0" smtClean="0"/>
              <a:t> WHERE </a:t>
            </a:r>
            <a:r>
              <a:rPr lang="en-US" sz="2000" dirty="0" err="1" smtClean="0"/>
              <a:t>B.key</a:t>
            </a:r>
            <a:r>
              <a:rPr lang="en-US" sz="2000" dirty="0" smtClean="0"/>
              <a:t> IS NULL </a:t>
            </a:r>
            <a:r>
              <a:rPr kumimoji="0" lang="fr-F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/>
            </a:r>
            <a:br>
              <a:rPr kumimoji="0" lang="fr-F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</a:br>
            <a:endParaRPr kumimoji="0" lang="fr-FR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32770" name="Picture 2" descr="C:\Users\E\Desktop\Images\sql-left-join-exclude-3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48600" y="3380171"/>
            <a:ext cx="3810000" cy="22733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xmlns="" id="{59E86273-66FB-4801-A4B3-A895DFAD1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4414" y="1394122"/>
            <a:ext cx="9757586" cy="3520440"/>
          </a:xfrm>
        </p:spPr>
        <p:txBody>
          <a:bodyPr>
            <a:normAutofit/>
          </a:bodyPr>
          <a:lstStyle/>
          <a:p>
            <a:r>
              <a:rPr lang="fr-FR" sz="4400" dirty="0" smtClean="0"/>
              <a:t>SQL Sous-requête</a:t>
            </a:r>
            <a:br>
              <a:rPr lang="fr-FR" sz="4400" dirty="0" smtClean="0"/>
            </a:br>
            <a:endParaRPr lang="x-none" sz="4400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2800195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 smtClean="0"/>
              <a:t>SQL Sous-requête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69848" y="2121408"/>
            <a:ext cx="10058400" cy="1851502"/>
          </a:xfrm>
        </p:spPr>
        <p:txBody>
          <a:bodyPr/>
          <a:lstStyle/>
          <a:p>
            <a:pPr algn="just"/>
            <a:r>
              <a:rPr lang="fr-FR" dirty="0" smtClean="0"/>
              <a:t>Dans le langage SQL une sous-requête (aussi appelée “requête imbriquée” ou “requête en cascade”) consiste à exécuter une requête à l’intérieur d’une autre requête. Une requête imbriquée est souvent utilisée au sein d’une clause WHERE ou de HAVING pou remplacer une ou plusieurs constante.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1242985" y="3474809"/>
            <a:ext cx="7715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880" indent="-182880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</a:pPr>
            <a:r>
              <a:rPr lang="fr-FR" sz="2000" b="1" dirty="0" smtClean="0"/>
              <a:t>Syntaxe:</a:t>
            </a:r>
            <a:endParaRPr lang="fr-FR" sz="2000" b="1" dirty="0"/>
          </a:p>
        </p:txBody>
      </p:sp>
      <p:sp>
        <p:nvSpPr>
          <p:cNvPr id="35841" name="Rectangle 1"/>
          <p:cNvSpPr>
            <a:spLocks noChangeArrowheads="1"/>
          </p:cNvSpPr>
          <p:nvPr/>
        </p:nvSpPr>
        <p:spPr bwMode="auto">
          <a:xfrm>
            <a:off x="646386" y="4020205"/>
            <a:ext cx="11041117" cy="568984"/>
          </a:xfrm>
          <a:prstGeom prst="rect">
            <a:avLst/>
          </a:prstGeom>
          <a:solidFill>
            <a:srgbClr val="F4F4F4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258681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2000" b="0" i="0" u="none" strike="noStrike" cap="none" normalizeH="0" baseline="0" dirty="0" smtClean="0">
                <a:ln>
                  <a:noFill/>
                </a:ln>
                <a:solidFill>
                  <a:srgbClr val="373737"/>
                </a:solidFill>
                <a:effectLst/>
                <a:latin typeface="Courier 10 Pitch"/>
                <a:cs typeface="Arial" pitchFamily="34" charset="0"/>
              </a:rPr>
              <a:t>SELECT * FROM table WHERE nom_colonne = ( SELECT ‘valeur</a:t>
            </a:r>
            <a:r>
              <a:rPr lang="fr-FR" sz="2000" dirty="0" smtClean="0">
                <a:solidFill>
                  <a:srgbClr val="373737"/>
                </a:solidFill>
                <a:latin typeface="Courier 10 Pitch"/>
                <a:cs typeface="Arial" pitchFamily="34" charset="0"/>
              </a:rPr>
              <a:t>’</a:t>
            </a:r>
            <a:r>
              <a:rPr kumimoji="0" lang="fr-FR" sz="2000" b="0" i="0" u="none" strike="noStrike" cap="none" normalizeH="0" baseline="0" dirty="0" smtClean="0">
                <a:ln>
                  <a:noFill/>
                </a:ln>
                <a:solidFill>
                  <a:srgbClr val="373737"/>
                </a:solidFill>
                <a:effectLst/>
                <a:latin typeface="Courier 10 Pitch"/>
                <a:cs typeface="Arial" pitchFamily="34" charset="0"/>
              </a:rPr>
              <a:t> FROM table2 LIMIT 1 )</a:t>
            </a:r>
            <a:r>
              <a:rPr kumimoji="0" lang="fr-F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5202650"/>
            <a:ext cx="10515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-Select </a:t>
            </a:r>
            <a:r>
              <a:rPr lang="en-US" dirty="0" err="1" smtClean="0"/>
              <a:t>nom,adresse</a:t>
            </a:r>
            <a:r>
              <a:rPr lang="en-US" dirty="0" smtClean="0"/>
              <a:t> from client where </a:t>
            </a:r>
            <a:r>
              <a:rPr lang="en-US" dirty="0" err="1" smtClean="0"/>
              <a:t>ncli</a:t>
            </a:r>
            <a:r>
              <a:rPr lang="en-US" dirty="0" smtClean="0"/>
              <a:t>=(select </a:t>
            </a:r>
            <a:r>
              <a:rPr lang="en-US" dirty="0" err="1" smtClean="0"/>
              <a:t>ncli</a:t>
            </a:r>
            <a:r>
              <a:rPr lang="en-US" dirty="0" smtClean="0"/>
              <a:t> from facture where </a:t>
            </a:r>
            <a:r>
              <a:rPr lang="en-US" dirty="0" err="1" smtClean="0"/>
              <a:t>montant</a:t>
            </a:r>
            <a:r>
              <a:rPr lang="en-US" dirty="0" smtClean="0"/>
              <a:t>&gt;10000 limit 1) </a:t>
            </a:r>
            <a:endParaRPr lang="fr-FR" dirty="0"/>
          </a:p>
        </p:txBody>
      </p:sp>
      <p:sp>
        <p:nvSpPr>
          <p:cNvPr id="9" name="ZoneTexte 8"/>
          <p:cNvSpPr txBox="1"/>
          <p:nvPr/>
        </p:nvSpPr>
        <p:spPr>
          <a:xfrm>
            <a:off x="1174668" y="4667733"/>
            <a:ext cx="7715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880" indent="-182880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</a:pPr>
            <a:r>
              <a:rPr lang="fr-FR" sz="2000" b="1" dirty="0" smtClean="0"/>
              <a:t>Exemples:</a:t>
            </a:r>
            <a:endParaRPr lang="fr-FR" sz="2000" b="1" dirty="0"/>
          </a:p>
        </p:txBody>
      </p:sp>
      <p:sp>
        <p:nvSpPr>
          <p:cNvPr id="10" name="Rectangle 9"/>
          <p:cNvSpPr/>
          <p:nvPr/>
        </p:nvSpPr>
        <p:spPr>
          <a:xfrm>
            <a:off x="777764" y="5833270"/>
            <a:ext cx="1027386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-Select </a:t>
            </a:r>
            <a:r>
              <a:rPr lang="en-US" dirty="0" err="1" smtClean="0"/>
              <a:t>nom,adresse</a:t>
            </a:r>
            <a:r>
              <a:rPr lang="en-US" dirty="0" smtClean="0"/>
              <a:t> from client where </a:t>
            </a:r>
            <a:r>
              <a:rPr lang="en-US" dirty="0" err="1" smtClean="0"/>
              <a:t>ncli</a:t>
            </a:r>
            <a:r>
              <a:rPr lang="en-US" dirty="0" smtClean="0"/>
              <a:t> in(select </a:t>
            </a:r>
            <a:r>
              <a:rPr lang="en-US" dirty="0" err="1" smtClean="0"/>
              <a:t>ncli</a:t>
            </a:r>
            <a:r>
              <a:rPr lang="en-US" dirty="0" smtClean="0"/>
              <a:t> from facture where </a:t>
            </a:r>
            <a:r>
              <a:rPr lang="en-US" dirty="0" err="1" smtClean="0"/>
              <a:t>montant</a:t>
            </a:r>
            <a:r>
              <a:rPr lang="en-US" dirty="0" smtClean="0"/>
              <a:t>&gt;10000) 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xmlns="" id="{59E86273-66FB-4801-A4B3-A895DFAD1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4414" y="1394122"/>
            <a:ext cx="9757586" cy="3520440"/>
          </a:xfrm>
        </p:spPr>
        <p:txBody>
          <a:bodyPr>
            <a:normAutofit/>
          </a:bodyPr>
          <a:lstStyle/>
          <a:p>
            <a:r>
              <a:rPr lang="fr-FR" sz="4400" dirty="0" smtClean="0"/>
              <a:t>VUE en </a:t>
            </a:r>
            <a:r>
              <a:rPr lang="fr-FR" sz="4400" dirty="0" err="1" smtClean="0"/>
              <a:t>sql</a:t>
            </a:r>
            <a:endParaRPr lang="x-none" sz="4400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2800195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 err="1" smtClean="0"/>
              <a:t>Creation</a:t>
            </a:r>
            <a:r>
              <a:rPr lang="fr-FR" dirty="0" smtClean="0"/>
              <a:t> de vue en </a:t>
            </a:r>
            <a:r>
              <a:rPr lang="fr-FR" dirty="0" err="1" smtClean="0"/>
              <a:t>sql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69848" y="2121408"/>
            <a:ext cx="10058400" cy="1283944"/>
          </a:xfrm>
        </p:spPr>
        <p:txBody>
          <a:bodyPr>
            <a:normAutofit/>
          </a:bodyPr>
          <a:lstStyle/>
          <a:p>
            <a:pPr algn="just"/>
            <a:r>
              <a:rPr lang="fr-FR" dirty="0" smtClean="0"/>
              <a:t>Une vue dans une base de données est une synthèse d'une requête d'interrogation de la base. On peut la voir comme une table virtuelle, définie par une requête.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1227218" y="3285623"/>
            <a:ext cx="895730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880" indent="-182880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</a:pPr>
            <a:r>
              <a:rPr lang="fr-FR" sz="2000" b="1" dirty="0" smtClean="0"/>
              <a:t>Syntaxe:</a:t>
            </a:r>
          </a:p>
          <a:p>
            <a:pPr marL="182880" indent="-182880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</a:pPr>
            <a:endParaRPr lang="fr-FR" sz="2000" b="1" dirty="0" smtClean="0"/>
          </a:p>
          <a:p>
            <a:r>
              <a:rPr lang="fr-FR" b="1" dirty="0" smtClean="0">
                <a:latin typeface="Times New Roman" pitchFamily="18" charset="0"/>
                <a:cs typeface="Times New Roman" pitchFamily="18" charset="0"/>
              </a:rPr>
              <a:t>CREATE VIEW &lt;NOM DE VUE&gt; [ (LISTE D’ATTRIBUT)] </a:t>
            </a:r>
          </a:p>
          <a:p>
            <a:r>
              <a:rPr lang="fr-FR" b="1" dirty="0" smtClean="0">
                <a:latin typeface="Times New Roman" pitchFamily="18" charset="0"/>
                <a:cs typeface="Times New Roman" pitchFamily="18" charset="0"/>
              </a:rPr>
              <a:t>AS &lt;QUESTION&gt; </a:t>
            </a:r>
          </a:p>
          <a:p>
            <a:r>
              <a:rPr lang="fr-FR" b="1" dirty="0" smtClean="0">
                <a:latin typeface="Times New Roman" pitchFamily="18" charset="0"/>
                <a:cs typeface="Times New Roman" pitchFamily="18" charset="0"/>
              </a:rPr>
              <a:t>[WITH CHECK OPTION] </a:t>
            </a:r>
            <a:endParaRPr lang="fr-FR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1229710" y="5312979"/>
            <a:ext cx="769755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smtClean="0"/>
              <a:t>Exemple:</a:t>
            </a:r>
          </a:p>
          <a:p>
            <a:r>
              <a:rPr lang="fr-FR" dirty="0" err="1" smtClean="0"/>
              <a:t>Create</a:t>
            </a:r>
            <a:r>
              <a:rPr lang="fr-FR" dirty="0" smtClean="0"/>
              <a:t> </a:t>
            </a:r>
            <a:r>
              <a:rPr lang="fr-FR" dirty="0" err="1" smtClean="0"/>
              <a:t>view</a:t>
            </a:r>
            <a:r>
              <a:rPr lang="fr-FR" dirty="0" smtClean="0"/>
              <a:t> </a:t>
            </a:r>
            <a:r>
              <a:rPr lang="fr-FR" dirty="0" err="1" smtClean="0"/>
              <a:t>infoclient</a:t>
            </a:r>
            <a:r>
              <a:rPr lang="fr-FR" dirty="0" smtClean="0"/>
              <a:t>(</a:t>
            </a:r>
            <a:r>
              <a:rPr lang="fr-FR" dirty="0" err="1" smtClean="0"/>
              <a:t>nom,adresse</a:t>
            </a:r>
            <a:r>
              <a:rPr lang="fr-FR" dirty="0" smtClean="0"/>
              <a:t>) as select </a:t>
            </a:r>
            <a:r>
              <a:rPr lang="fr-FR" dirty="0" err="1" smtClean="0"/>
              <a:t>nom,adresse</a:t>
            </a:r>
            <a:r>
              <a:rPr lang="fr-FR" dirty="0" smtClean="0"/>
              <a:t> </a:t>
            </a:r>
            <a:r>
              <a:rPr lang="fr-FR" dirty="0" err="1" smtClean="0"/>
              <a:t>from</a:t>
            </a:r>
            <a:r>
              <a:rPr lang="fr-FR" dirty="0" smtClean="0"/>
              <a:t> client;</a:t>
            </a:r>
          </a:p>
          <a:p>
            <a:endParaRPr lang="fr-FR" dirty="0" smtClean="0"/>
          </a:p>
          <a:p>
            <a:r>
              <a:rPr lang="fr-FR" dirty="0" smtClean="0"/>
              <a:t>Select*f rom </a:t>
            </a:r>
            <a:r>
              <a:rPr lang="fr-FR" dirty="0" err="1" smtClean="0"/>
              <a:t>infoclient</a:t>
            </a:r>
            <a:r>
              <a:rPr lang="fr-FR" dirty="0" smtClean="0"/>
              <a:t>;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 smtClean="0"/>
              <a:t>Suppression de vue en </a:t>
            </a:r>
            <a:r>
              <a:rPr lang="fr-FR" dirty="0" err="1" smtClean="0"/>
              <a:t>sql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69848" y="2121407"/>
            <a:ext cx="10058400" cy="1583489"/>
          </a:xfrm>
        </p:spPr>
        <p:txBody>
          <a:bodyPr>
            <a:normAutofit/>
          </a:bodyPr>
          <a:lstStyle/>
          <a:p>
            <a:pPr marL="0"/>
            <a:r>
              <a:rPr lang="fr-FR" dirty="0" smtClean="0"/>
              <a:t>La suppression d’une vue s’effectue simplement par la commande :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1227218" y="3285623"/>
            <a:ext cx="8957305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880" indent="-182880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</a:pPr>
            <a:r>
              <a:rPr lang="fr-FR" sz="2000" b="1" dirty="0" smtClean="0"/>
              <a:t>Syntaxe:</a:t>
            </a:r>
          </a:p>
          <a:p>
            <a:pPr marL="182880" indent="-182880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</a:pPr>
            <a:endParaRPr lang="fr-FR" sz="2000" b="1" dirty="0" smtClean="0"/>
          </a:p>
          <a:p>
            <a:pPr marL="182880" indent="-182880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</a:pPr>
            <a:r>
              <a:rPr lang="fr-FR" sz="2000" b="1" dirty="0" smtClean="0">
                <a:latin typeface="Times New Roman" pitchFamily="18" charset="0"/>
                <a:cs typeface="Times New Roman" pitchFamily="18" charset="0"/>
              </a:rPr>
              <a:t>DROP  VIEW &lt;NOM DE VUE&gt;. </a:t>
            </a:r>
            <a:endParaRPr lang="fr-FR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182880" indent="-182880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</a:pPr>
            <a:endParaRPr lang="fr-FR" sz="2000" b="1" dirty="0" smtClean="0"/>
          </a:p>
        </p:txBody>
      </p:sp>
      <p:sp>
        <p:nvSpPr>
          <p:cNvPr id="9" name="ZoneTexte 8"/>
          <p:cNvSpPr txBox="1"/>
          <p:nvPr/>
        </p:nvSpPr>
        <p:spPr>
          <a:xfrm>
            <a:off x="1229710" y="5312979"/>
            <a:ext cx="239398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smtClean="0"/>
              <a:t>Exemple:</a:t>
            </a:r>
          </a:p>
          <a:p>
            <a:endParaRPr lang="fr-FR" b="1" dirty="0" smtClean="0"/>
          </a:p>
          <a:p>
            <a:r>
              <a:rPr lang="fr-FR" dirty="0" smtClean="0"/>
              <a:t>Drop </a:t>
            </a:r>
            <a:r>
              <a:rPr lang="fr-FR" dirty="0" err="1" smtClean="0"/>
              <a:t>view</a:t>
            </a:r>
            <a:r>
              <a:rPr lang="fr-FR" dirty="0" smtClean="0"/>
              <a:t> </a:t>
            </a:r>
            <a:r>
              <a:rPr lang="fr-FR" dirty="0" err="1" smtClean="0"/>
              <a:t>infoclient</a:t>
            </a:r>
            <a:r>
              <a:rPr lang="fr-FR" dirty="0" smtClean="0"/>
              <a:t>;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xmlns="" id="{59E86273-66FB-4801-A4B3-A895DFAD1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4414" y="1394122"/>
            <a:ext cx="9757586" cy="3520440"/>
          </a:xfrm>
        </p:spPr>
        <p:txBody>
          <a:bodyPr>
            <a:normAutofit/>
          </a:bodyPr>
          <a:lstStyle/>
          <a:p>
            <a:r>
              <a:rPr lang="fr-FR" sz="4400" dirty="0" smtClean="0"/>
              <a:t>Utilisateurs et les privilèges </a:t>
            </a:r>
            <a:r>
              <a:rPr lang="fr-FR" sz="44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/>
            </a:r>
            <a:br>
              <a:rPr lang="fr-FR" sz="44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</a:br>
            <a:endParaRPr lang="x-none" sz="4400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2800195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85614" y="594990"/>
            <a:ext cx="10058400" cy="1170747"/>
          </a:xfrm>
        </p:spPr>
        <p:txBody>
          <a:bodyPr>
            <a:normAutofit fontScale="90000"/>
          </a:bodyPr>
          <a:lstStyle/>
          <a:p>
            <a:r>
              <a:rPr lang="fr-FR" dirty="0" smtClean="0"/>
              <a:t>Création d’utilisateur </a:t>
            </a:r>
            <a:r>
              <a:rPr lang="fr-FR" b="1" dirty="0" smtClean="0">
                <a:solidFill>
                  <a:schemeClr val="accent3">
                    <a:lumMod val="75000"/>
                  </a:schemeClr>
                </a:solidFill>
              </a:rPr>
              <a:t/>
            </a:r>
            <a:br>
              <a:rPr lang="fr-FR" b="1" dirty="0" smtClean="0">
                <a:solidFill>
                  <a:schemeClr val="accent3">
                    <a:lumMod val="75000"/>
                  </a:schemeClr>
                </a:solidFill>
              </a:rPr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54082" y="2547077"/>
            <a:ext cx="10058400" cy="1252413"/>
          </a:xfrm>
        </p:spPr>
        <p:txBody>
          <a:bodyPr>
            <a:normAutofit/>
          </a:bodyPr>
          <a:lstStyle/>
          <a:p>
            <a:r>
              <a:rPr lang="fr-FR" dirty="0" smtClean="0"/>
              <a:t>Pour créer un utilisateur facilement, on peut utiliser la syntaxe suivante: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1150882" y="4430110"/>
            <a:ext cx="6351482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smtClean="0"/>
              <a:t>Exemple:</a:t>
            </a:r>
          </a:p>
          <a:p>
            <a:endParaRPr lang="fr-FR" dirty="0" smtClean="0"/>
          </a:p>
          <a:p>
            <a:pPr marL="182880" indent="-182880" fontAlgn="base">
              <a:lnSpc>
                <a:spcPct val="90000"/>
              </a:lnSpc>
              <a:spcBef>
                <a:spcPts val="1200"/>
              </a:spcBef>
              <a:spcAft>
                <a:spcPct val="0"/>
              </a:spcAft>
              <a:buClr>
                <a:schemeClr val="accent1">
                  <a:lumMod val="75000"/>
                </a:schemeClr>
              </a:buClr>
              <a:buSzPct val="85000"/>
            </a:pPr>
            <a:r>
              <a:rPr lang="fr-FR" sz="2000" dirty="0" err="1" smtClean="0"/>
              <a:t>Create</a:t>
            </a:r>
            <a:r>
              <a:rPr lang="fr-FR" sz="2000" dirty="0" smtClean="0"/>
              <a:t> user ‘</a:t>
            </a:r>
            <a:r>
              <a:rPr lang="fr-FR" sz="2000" dirty="0" err="1" smtClean="0"/>
              <a:t>rakoto</a:t>
            </a:r>
            <a:r>
              <a:rPr lang="fr-FR" sz="2000" dirty="0" smtClean="0"/>
              <a:t>’@’</a:t>
            </a:r>
            <a:r>
              <a:rPr lang="fr-FR" sz="2000" dirty="0" err="1" smtClean="0"/>
              <a:t>localhost</a:t>
            </a:r>
            <a:r>
              <a:rPr lang="fr-FR" sz="2000" dirty="0" smtClean="0"/>
              <a:t>’ </a:t>
            </a:r>
            <a:r>
              <a:rPr lang="fr-FR" sz="2000" dirty="0" err="1" smtClean="0"/>
              <a:t>identified</a:t>
            </a:r>
            <a:r>
              <a:rPr lang="fr-FR" sz="2000" dirty="0" smtClean="0"/>
              <a:t> by ‘1234’;</a:t>
            </a:r>
          </a:p>
        </p:txBody>
      </p:sp>
      <p:sp>
        <p:nvSpPr>
          <p:cNvPr id="7" name="Rectangle 6"/>
          <p:cNvSpPr/>
          <p:nvPr/>
        </p:nvSpPr>
        <p:spPr>
          <a:xfrm>
            <a:off x="1157801" y="1933880"/>
            <a:ext cx="1142300" cy="3416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82880" indent="-182880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</a:pPr>
            <a:r>
              <a:rPr lang="fr-FR" b="1" dirty="0" smtClean="0"/>
              <a:t>Syntaxe:</a:t>
            </a: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1345719" y="3373344"/>
            <a:ext cx="855502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82880" marR="0" lvl="0" indent="-182880" fontAlgn="base">
              <a:lnSpc>
                <a:spcPct val="90000"/>
              </a:lnSpc>
              <a:spcBef>
                <a:spcPts val="1200"/>
              </a:spcBef>
              <a:spcAft>
                <a:spcPct val="0"/>
              </a:spcAft>
              <a:buClr>
                <a:schemeClr val="accent1">
                  <a:lumMod val="75000"/>
                </a:schemeClr>
              </a:buClr>
              <a:buSzPct val="85000"/>
              <a:tabLst/>
            </a:pPr>
            <a:r>
              <a:rPr lang="fr-FR" sz="2000" dirty="0" smtClean="0"/>
              <a:t>CREATE USER 'user'@'</a:t>
            </a:r>
            <a:r>
              <a:rPr lang="fr-FR" sz="2000" dirty="0" err="1" smtClean="0"/>
              <a:t>localhost</a:t>
            </a:r>
            <a:r>
              <a:rPr lang="fr-FR" sz="2000" dirty="0" smtClean="0"/>
              <a:t>' IDENTIFIED BY '</a:t>
            </a:r>
            <a:r>
              <a:rPr lang="fr-FR" sz="2000" dirty="0" err="1" smtClean="0"/>
              <a:t>password</a:t>
            </a:r>
            <a:r>
              <a:rPr lang="fr-FR" sz="2000" dirty="0" smtClean="0"/>
              <a:t>';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64442" y="910300"/>
            <a:ext cx="10058400" cy="1170747"/>
          </a:xfrm>
        </p:spPr>
        <p:txBody>
          <a:bodyPr>
            <a:normAutofit fontScale="90000"/>
          </a:bodyPr>
          <a:lstStyle/>
          <a:p>
            <a:r>
              <a:rPr lang="fr-FR" dirty="0" smtClean="0"/>
              <a:t>Attribution de privilèges</a:t>
            </a:r>
            <a:br>
              <a:rPr lang="fr-FR" dirty="0" smtClean="0"/>
            </a:br>
            <a:r>
              <a:rPr lang="fr-FR" dirty="0" smtClean="0"/>
              <a:t> </a:t>
            </a:r>
            <a:r>
              <a:rPr lang="fr-FR" b="1" dirty="0" smtClean="0">
                <a:solidFill>
                  <a:schemeClr val="accent3">
                    <a:lumMod val="75000"/>
                  </a:schemeClr>
                </a:solidFill>
              </a:rPr>
              <a:t/>
            </a:r>
            <a:br>
              <a:rPr lang="fr-FR" b="1" dirty="0" smtClean="0">
                <a:solidFill>
                  <a:schemeClr val="accent3">
                    <a:lumMod val="75000"/>
                  </a:schemeClr>
                </a:solidFill>
              </a:rPr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54082" y="2547077"/>
            <a:ext cx="10058400" cy="1252413"/>
          </a:xfrm>
        </p:spPr>
        <p:txBody>
          <a:bodyPr>
            <a:normAutofit/>
          </a:bodyPr>
          <a:lstStyle/>
          <a:p>
            <a:r>
              <a:rPr lang="fr-FR" dirty="0" smtClean="0"/>
              <a:t>On peut attribuer des privilèges à un utilisateur à l’aide du mot clé GRANT: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1166647" y="4272455"/>
            <a:ext cx="8558753" cy="10495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smtClean="0"/>
              <a:t>Exemple:</a:t>
            </a:r>
          </a:p>
          <a:p>
            <a:endParaRPr lang="fr-FR" dirty="0" smtClean="0"/>
          </a:p>
          <a:p>
            <a:pPr marL="182880" indent="-182880" fontAlgn="base">
              <a:lnSpc>
                <a:spcPct val="90000"/>
              </a:lnSpc>
              <a:spcBef>
                <a:spcPts val="1200"/>
              </a:spcBef>
              <a:spcAft>
                <a:spcPct val="0"/>
              </a:spcAft>
              <a:buClr>
                <a:schemeClr val="accent1">
                  <a:lumMod val="75000"/>
                </a:schemeClr>
              </a:buClr>
              <a:buSzPct val="85000"/>
            </a:pPr>
            <a:r>
              <a:rPr lang="fr-FR" dirty="0" smtClean="0"/>
              <a:t>GRANT SELECT, INSERT, UPDATE ON ‘</a:t>
            </a:r>
            <a:r>
              <a:rPr lang="fr-FR" dirty="0" err="1" smtClean="0"/>
              <a:t>gestionclient</a:t>
            </a:r>
            <a:r>
              <a:rPr lang="fr-FR" dirty="0" smtClean="0"/>
              <a:t>’.* TO ‘</a:t>
            </a:r>
            <a:r>
              <a:rPr lang="fr-FR" dirty="0" err="1" smtClean="0"/>
              <a:t>rakoto</a:t>
            </a:r>
            <a:r>
              <a:rPr lang="fr-FR" dirty="0" smtClean="0"/>
              <a:t>’@'</a:t>
            </a:r>
            <a:r>
              <a:rPr lang="fr-FR" dirty="0" err="1" smtClean="0"/>
              <a:t>localhost</a:t>
            </a:r>
            <a:r>
              <a:rPr lang="fr-FR" dirty="0" smtClean="0"/>
              <a:t>'; </a:t>
            </a:r>
          </a:p>
        </p:txBody>
      </p:sp>
      <p:sp>
        <p:nvSpPr>
          <p:cNvPr id="7" name="Rectangle 6"/>
          <p:cNvSpPr/>
          <p:nvPr/>
        </p:nvSpPr>
        <p:spPr>
          <a:xfrm>
            <a:off x="1157801" y="1933880"/>
            <a:ext cx="1142300" cy="3416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82880" indent="-182880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</a:pPr>
            <a:r>
              <a:rPr lang="fr-FR" b="1" dirty="0" smtClean="0"/>
              <a:t>Syntaxe:</a:t>
            </a:r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1154407" y="3362272"/>
            <a:ext cx="8741752" cy="341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82880" marR="0" lvl="0" indent="-182880" fontAlgn="base">
              <a:lnSpc>
                <a:spcPct val="90000"/>
              </a:lnSpc>
              <a:spcBef>
                <a:spcPts val="1200"/>
              </a:spcBef>
              <a:spcAft>
                <a:spcPct val="0"/>
              </a:spcAft>
              <a:buClr>
                <a:schemeClr val="accent1">
                  <a:lumMod val="75000"/>
                </a:schemeClr>
              </a:buClr>
              <a:buSzPct val="85000"/>
              <a:tabLst/>
            </a:pPr>
            <a:r>
              <a:rPr lang="fr-FR" dirty="0" smtClean="0"/>
              <a:t>GRANT SELECT, INSERT, UPDATE, DELETE ON ‘</a:t>
            </a:r>
            <a:r>
              <a:rPr lang="fr-FR" dirty="0" err="1" smtClean="0"/>
              <a:t>database</a:t>
            </a:r>
            <a:r>
              <a:rPr lang="fr-FR" dirty="0" smtClean="0"/>
              <a:t>’.* TO 'user'@'</a:t>
            </a:r>
            <a:r>
              <a:rPr lang="fr-FR" dirty="0" err="1" smtClean="0"/>
              <a:t>localhost</a:t>
            </a:r>
            <a:r>
              <a:rPr lang="fr-FR" dirty="0" smtClean="0"/>
              <a:t>'; </a:t>
            </a:r>
          </a:p>
        </p:txBody>
      </p:sp>
      <p:sp>
        <p:nvSpPr>
          <p:cNvPr id="11" name="ZoneTexte 10"/>
          <p:cNvSpPr txBox="1"/>
          <p:nvPr/>
        </p:nvSpPr>
        <p:spPr>
          <a:xfrm>
            <a:off x="3752193" y="5439103"/>
            <a:ext cx="461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smtClean="0"/>
              <a:t>ou</a:t>
            </a:r>
            <a:endParaRPr lang="fr-FR" b="1" dirty="0"/>
          </a:p>
        </p:txBody>
      </p:sp>
      <p:sp>
        <p:nvSpPr>
          <p:cNvPr id="12" name="Rectangle 3"/>
          <p:cNvSpPr>
            <a:spLocks noChangeArrowheads="1"/>
          </p:cNvSpPr>
          <p:nvPr/>
        </p:nvSpPr>
        <p:spPr bwMode="auto">
          <a:xfrm>
            <a:off x="1296297" y="5994891"/>
            <a:ext cx="8136904" cy="341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82880" marR="0" lvl="0" indent="-182880" fontAlgn="base">
              <a:lnSpc>
                <a:spcPct val="90000"/>
              </a:lnSpc>
              <a:spcBef>
                <a:spcPts val="1200"/>
              </a:spcBef>
              <a:spcAft>
                <a:spcPct val="0"/>
              </a:spcAft>
              <a:buClr>
                <a:schemeClr val="accent1">
                  <a:lumMod val="75000"/>
                </a:schemeClr>
              </a:buClr>
              <a:buSzPct val="85000"/>
              <a:buFontTx/>
              <a:buNone/>
              <a:tabLst/>
            </a:pPr>
            <a:r>
              <a:rPr lang="fr-FR" dirty="0" smtClean="0"/>
              <a:t>GRANT ALL ON ‘</a:t>
            </a:r>
            <a:r>
              <a:rPr lang="fr-FR" dirty="0" err="1" smtClean="0"/>
              <a:t>gestionclient</a:t>
            </a:r>
            <a:r>
              <a:rPr lang="fr-FR" dirty="0" smtClean="0"/>
              <a:t>’.* TO ‘</a:t>
            </a:r>
            <a:r>
              <a:rPr lang="fr-FR" dirty="0" err="1" smtClean="0"/>
              <a:t>rakoto</a:t>
            </a:r>
            <a:r>
              <a:rPr lang="fr-FR" dirty="0" smtClean="0"/>
              <a:t>'@'</a:t>
            </a:r>
            <a:r>
              <a:rPr lang="fr-FR" dirty="0" err="1" smtClean="0"/>
              <a:t>localhost</a:t>
            </a:r>
            <a:r>
              <a:rPr lang="fr-FR" dirty="0" smtClean="0"/>
              <a:t>';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64442" y="910300"/>
            <a:ext cx="10058400" cy="1170747"/>
          </a:xfrm>
        </p:spPr>
        <p:txBody>
          <a:bodyPr>
            <a:normAutofit fontScale="90000"/>
          </a:bodyPr>
          <a:lstStyle/>
          <a:p>
            <a:r>
              <a:rPr lang="fr-FR" dirty="0" smtClean="0"/>
              <a:t>SUPPRESSION de privilèges </a:t>
            </a:r>
            <a:r>
              <a:rPr lang="fr-FR" smtClean="0"/>
              <a:t>et Utilisateur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 </a:t>
            </a:r>
            <a:r>
              <a:rPr lang="fr-FR" b="1" dirty="0" smtClean="0">
                <a:solidFill>
                  <a:schemeClr val="accent3">
                    <a:lumMod val="75000"/>
                  </a:schemeClr>
                </a:solidFill>
              </a:rPr>
              <a:t/>
            </a:r>
            <a:br>
              <a:rPr lang="fr-FR" b="1" dirty="0" smtClean="0">
                <a:solidFill>
                  <a:schemeClr val="accent3">
                    <a:lumMod val="75000"/>
                  </a:schemeClr>
                </a:solidFill>
              </a:rPr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54082" y="2547077"/>
            <a:ext cx="10058400" cy="1252413"/>
          </a:xfrm>
        </p:spPr>
        <p:txBody>
          <a:bodyPr>
            <a:normAutofit/>
          </a:bodyPr>
          <a:lstStyle/>
          <a:p>
            <a:r>
              <a:rPr lang="fr-FR" dirty="0" smtClean="0"/>
              <a:t>Pour révoquer l’ensemble des droits d’un utilisateur, on peut lancer la requêtes suivante.</a:t>
            </a:r>
            <a:endParaRPr lang="fr-FR" dirty="0"/>
          </a:p>
        </p:txBody>
      </p:sp>
      <p:sp>
        <p:nvSpPr>
          <p:cNvPr id="9" name="ZoneTexte 8"/>
          <p:cNvSpPr txBox="1"/>
          <p:nvPr/>
        </p:nvSpPr>
        <p:spPr>
          <a:xfrm>
            <a:off x="1056289" y="4918841"/>
            <a:ext cx="1265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smtClean="0"/>
              <a:t>Exemple:</a:t>
            </a:r>
          </a:p>
          <a:p>
            <a:endParaRPr lang="fr-FR" dirty="0" smtClean="0"/>
          </a:p>
        </p:txBody>
      </p:sp>
      <p:sp>
        <p:nvSpPr>
          <p:cNvPr id="7" name="Rectangle 6"/>
          <p:cNvSpPr/>
          <p:nvPr/>
        </p:nvSpPr>
        <p:spPr>
          <a:xfrm>
            <a:off x="1157801" y="1933880"/>
            <a:ext cx="1142300" cy="3416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82880" indent="-182880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</a:pPr>
            <a:r>
              <a:rPr lang="fr-FR" b="1" dirty="0" smtClean="0"/>
              <a:t>Syntaxe:</a:t>
            </a:r>
          </a:p>
        </p:txBody>
      </p:sp>
      <p:sp>
        <p:nvSpPr>
          <p:cNvPr id="13" name="Rectangle 2"/>
          <p:cNvSpPr>
            <a:spLocks noChangeArrowheads="1"/>
          </p:cNvSpPr>
          <p:nvPr/>
        </p:nvSpPr>
        <p:spPr bwMode="auto">
          <a:xfrm>
            <a:off x="1321008" y="3460531"/>
            <a:ext cx="7920880" cy="7448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82880" marR="0" lvl="0" indent="-182880" fontAlgn="base">
              <a:lnSpc>
                <a:spcPct val="90000"/>
              </a:lnSpc>
              <a:spcBef>
                <a:spcPts val="1200"/>
              </a:spcBef>
              <a:spcAft>
                <a:spcPct val="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tabLst/>
            </a:pPr>
            <a:r>
              <a:rPr lang="fr-FR" dirty="0" smtClean="0"/>
              <a:t>REVOKE ALL PRIVILEGES, GRANT OPTION FROM 'user'@'</a:t>
            </a:r>
            <a:r>
              <a:rPr lang="fr-FR" dirty="0" err="1" smtClean="0"/>
              <a:t>localhost</a:t>
            </a:r>
            <a:r>
              <a:rPr lang="fr-FR" dirty="0" smtClean="0"/>
              <a:t>';</a:t>
            </a:r>
          </a:p>
          <a:p>
            <a:pPr marL="182880" lvl="0" indent="-182880" fontAlgn="base">
              <a:lnSpc>
                <a:spcPct val="90000"/>
              </a:lnSpc>
              <a:spcBef>
                <a:spcPts val="1200"/>
              </a:spcBef>
              <a:spcAft>
                <a:spcPct val="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</a:pPr>
            <a:r>
              <a:rPr lang="fr-FR" dirty="0" smtClean="0"/>
              <a:t>REVOKE DELETE ON database.* FROM 'user'@'</a:t>
            </a:r>
            <a:r>
              <a:rPr lang="fr-FR" dirty="0" err="1" smtClean="0"/>
              <a:t>localhost</a:t>
            </a:r>
            <a:r>
              <a:rPr lang="fr-FR" dirty="0" smtClean="0"/>
              <a:t>';  </a:t>
            </a:r>
          </a:p>
        </p:txBody>
      </p:sp>
      <p:sp>
        <p:nvSpPr>
          <p:cNvPr id="14" name="Rectangle 2"/>
          <p:cNvSpPr>
            <a:spLocks noChangeArrowheads="1"/>
          </p:cNvSpPr>
          <p:nvPr/>
        </p:nvSpPr>
        <p:spPr bwMode="auto">
          <a:xfrm>
            <a:off x="1331519" y="5615151"/>
            <a:ext cx="7920880" cy="7448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82880" marR="0" indent="-182880" fontAlgn="base">
              <a:lnSpc>
                <a:spcPct val="90000"/>
              </a:lnSpc>
              <a:spcBef>
                <a:spcPts val="1200"/>
              </a:spcBef>
              <a:spcAft>
                <a:spcPct val="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tabLst/>
            </a:pPr>
            <a:r>
              <a:rPr lang="fr-FR" dirty="0" smtClean="0"/>
              <a:t>REVOKE ALL PRIVILEGES, GRANT OPTION FROM ‘</a:t>
            </a:r>
            <a:r>
              <a:rPr lang="fr-FR" dirty="0" err="1" smtClean="0"/>
              <a:t>rakoto</a:t>
            </a:r>
            <a:r>
              <a:rPr lang="fr-FR" dirty="0" smtClean="0"/>
              <a:t>'@'</a:t>
            </a:r>
            <a:r>
              <a:rPr lang="fr-FR" dirty="0" err="1" smtClean="0"/>
              <a:t>localhost</a:t>
            </a:r>
            <a:r>
              <a:rPr lang="fr-FR" dirty="0" smtClean="0"/>
              <a:t>';</a:t>
            </a:r>
          </a:p>
          <a:p>
            <a:pPr marL="182880" indent="-182880" fontAlgn="base">
              <a:lnSpc>
                <a:spcPct val="90000"/>
              </a:lnSpc>
              <a:spcBef>
                <a:spcPts val="1200"/>
              </a:spcBef>
              <a:spcAft>
                <a:spcPct val="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</a:pPr>
            <a:r>
              <a:rPr lang="fr-FR" dirty="0" smtClean="0"/>
              <a:t>REVOKE DELETE ON </a:t>
            </a:r>
            <a:r>
              <a:rPr lang="fr-FR" dirty="0" err="1" smtClean="0"/>
              <a:t>gestionclient</a:t>
            </a:r>
            <a:r>
              <a:rPr lang="fr-FR" dirty="0" smtClean="0"/>
              <a:t>* FROM ‘</a:t>
            </a:r>
            <a:r>
              <a:rPr lang="fr-FR" dirty="0" err="1" smtClean="0"/>
              <a:t>rakoto</a:t>
            </a:r>
            <a:r>
              <a:rPr lang="fr-FR" dirty="0" smtClean="0"/>
              <a:t>'@'</a:t>
            </a:r>
            <a:r>
              <a:rPr lang="fr-FR" dirty="0" err="1" smtClean="0"/>
              <a:t>localhost</a:t>
            </a:r>
            <a:r>
              <a:rPr lang="fr-FR" dirty="0" smtClean="0"/>
              <a:t>';  </a:t>
            </a: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393820" y="4518761"/>
            <a:ext cx="5448414" cy="341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82880" marR="0" indent="-182880" fontAlgn="base">
              <a:lnSpc>
                <a:spcPct val="90000"/>
              </a:lnSpc>
              <a:spcBef>
                <a:spcPts val="1200"/>
              </a:spcBef>
              <a:spcAft>
                <a:spcPct val="0"/>
              </a:spcAft>
              <a:buClr>
                <a:schemeClr val="accent1">
                  <a:lumMod val="75000"/>
                </a:schemeClr>
              </a:buClr>
              <a:buSzPct val="85000"/>
              <a:tabLst/>
            </a:pPr>
            <a:r>
              <a:rPr lang="fr-FR" dirty="0" smtClean="0"/>
              <a:t>DROP USER 'user'@'</a:t>
            </a:r>
            <a:r>
              <a:rPr lang="fr-FR" dirty="0" err="1" smtClean="0"/>
              <a:t>localhost</a:t>
            </a:r>
            <a:r>
              <a:rPr lang="fr-FR" dirty="0" smtClean="0"/>
              <a:t>';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xmlns="" id="{59E86273-66FB-4801-A4B3-A895DFAD1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4414" y="1394122"/>
            <a:ext cx="9757586" cy="3520440"/>
          </a:xfrm>
        </p:spPr>
        <p:txBody>
          <a:bodyPr>
            <a:normAutofit/>
          </a:bodyPr>
          <a:lstStyle/>
          <a:p>
            <a:r>
              <a:rPr lang="fr-FR" sz="4400" dirty="0" smtClean="0"/>
              <a:t>Procédure stockée </a:t>
            </a:r>
            <a:br>
              <a:rPr lang="fr-FR" sz="4400" dirty="0" smtClean="0"/>
            </a:br>
            <a:r>
              <a:rPr lang="fr-FR" sz="4400" dirty="0" smtClean="0"/>
              <a:t> </a:t>
            </a:r>
            <a:r>
              <a:rPr lang="fr-FR" sz="44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/>
            </a:r>
            <a:br>
              <a:rPr lang="fr-FR" sz="44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</a:br>
            <a:endParaRPr lang="x-none" sz="4400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2800195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227504" y="1178314"/>
            <a:ext cx="10058400" cy="1170747"/>
          </a:xfrm>
        </p:spPr>
        <p:txBody>
          <a:bodyPr>
            <a:normAutofit fontScale="90000"/>
          </a:bodyPr>
          <a:lstStyle/>
          <a:p>
            <a:r>
              <a:rPr lang="fr-FR" dirty="0" smtClean="0"/>
              <a:t>Procédure stockée</a:t>
            </a:r>
            <a:r>
              <a:rPr lang="fr-FR" b="1" dirty="0" smtClean="0"/>
              <a:t/>
            </a:r>
            <a:br>
              <a:rPr lang="fr-FR" b="1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 </a:t>
            </a:r>
            <a:r>
              <a:rPr lang="fr-FR" b="1" dirty="0" smtClean="0">
                <a:solidFill>
                  <a:schemeClr val="accent3">
                    <a:lumMod val="75000"/>
                  </a:schemeClr>
                </a:solidFill>
              </a:rPr>
              <a:t/>
            </a:r>
            <a:br>
              <a:rPr lang="fr-FR" b="1" dirty="0" smtClean="0">
                <a:solidFill>
                  <a:schemeClr val="accent3">
                    <a:lumMod val="75000"/>
                  </a:schemeClr>
                </a:solidFill>
              </a:rPr>
            </a:br>
            <a:endParaRPr lang="fr-FR" dirty="0"/>
          </a:p>
        </p:txBody>
      </p:sp>
      <p:sp>
        <p:nvSpPr>
          <p:cNvPr id="9" name="ZoneTexte 8"/>
          <p:cNvSpPr txBox="1"/>
          <p:nvPr/>
        </p:nvSpPr>
        <p:spPr>
          <a:xfrm>
            <a:off x="1135117" y="2664373"/>
            <a:ext cx="1265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smtClean="0"/>
              <a:t>Exemple:</a:t>
            </a:r>
          </a:p>
          <a:p>
            <a:endParaRPr lang="fr-FR" dirty="0" smtClean="0"/>
          </a:p>
        </p:txBody>
      </p:sp>
      <p:sp>
        <p:nvSpPr>
          <p:cNvPr id="11" name="Rectangle 10"/>
          <p:cNvSpPr/>
          <p:nvPr/>
        </p:nvSpPr>
        <p:spPr>
          <a:xfrm>
            <a:off x="1550276" y="3192629"/>
            <a:ext cx="6096000" cy="258532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DELIMITER //</a:t>
            </a:r>
          </a:p>
          <a:p>
            <a:r>
              <a:rPr lang="en-US" dirty="0" smtClean="0"/>
              <a:t>CREATE PROCEDURE </a:t>
            </a:r>
            <a:r>
              <a:rPr lang="en-US" dirty="0" err="1" smtClean="0"/>
              <a:t>nomclient</a:t>
            </a:r>
            <a:endParaRPr lang="en-US" dirty="0" smtClean="0"/>
          </a:p>
          <a:p>
            <a:r>
              <a:rPr lang="en-US" dirty="0" smtClean="0"/>
              <a:t>(IN con CHAR(20))</a:t>
            </a:r>
          </a:p>
          <a:p>
            <a:r>
              <a:rPr lang="en-US" dirty="0" smtClean="0"/>
              <a:t>BEGIN</a:t>
            </a:r>
          </a:p>
          <a:p>
            <a:pPr lvl="1"/>
            <a:r>
              <a:rPr lang="en-US" dirty="0" smtClean="0"/>
              <a:t>SELECT nom</a:t>
            </a:r>
          </a:p>
          <a:p>
            <a:pPr lvl="1"/>
            <a:r>
              <a:rPr lang="en-US" dirty="0" smtClean="0"/>
              <a:t>FROM client</a:t>
            </a:r>
          </a:p>
          <a:p>
            <a:pPr lvl="1"/>
            <a:r>
              <a:rPr lang="en-US" dirty="0" smtClean="0"/>
              <a:t>WHERE cat=con;</a:t>
            </a:r>
          </a:p>
          <a:p>
            <a:r>
              <a:rPr lang="en-US" dirty="0" smtClean="0"/>
              <a:t>END //</a:t>
            </a:r>
          </a:p>
          <a:p>
            <a:r>
              <a:rPr lang="en-US" dirty="0" smtClean="0"/>
              <a:t>DELIMITER ;</a:t>
            </a:r>
            <a:endParaRPr lang="fr-FR" dirty="0"/>
          </a:p>
        </p:txBody>
      </p:sp>
      <p:sp>
        <p:nvSpPr>
          <p:cNvPr id="12" name="Rectangle 11"/>
          <p:cNvSpPr/>
          <p:nvPr/>
        </p:nvSpPr>
        <p:spPr>
          <a:xfrm>
            <a:off x="1392621" y="1278220"/>
            <a:ext cx="1010044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sz="2000" dirty="0" smtClean="0"/>
              <a:t>Une </a:t>
            </a:r>
            <a:r>
              <a:rPr lang="fr-FR" sz="2000" b="1" dirty="0" smtClean="0"/>
              <a:t>procédure stockée</a:t>
            </a:r>
            <a:r>
              <a:rPr lang="fr-FR" sz="2000" dirty="0" smtClean="0"/>
              <a:t>, aussi appelée </a:t>
            </a:r>
            <a:r>
              <a:rPr lang="fr-FR" sz="2000" b="1" dirty="0" err="1" smtClean="0"/>
              <a:t>stored</a:t>
            </a:r>
            <a:r>
              <a:rPr lang="fr-FR" sz="2000" b="1" dirty="0" smtClean="0"/>
              <a:t> </a:t>
            </a:r>
            <a:r>
              <a:rPr lang="fr-FR" sz="2000" b="1" dirty="0" err="1" smtClean="0"/>
              <a:t>procedure</a:t>
            </a:r>
            <a:r>
              <a:rPr lang="fr-FR" sz="2000" dirty="0" smtClean="0"/>
              <a:t> en anglais, est un concept utilisé en administration de base de données afin d’exécuter un ensemble d’instructions SQL. </a:t>
            </a:r>
            <a:endParaRPr lang="fr-FR" sz="2000" dirty="0"/>
          </a:p>
        </p:txBody>
      </p:sp>
      <p:sp>
        <p:nvSpPr>
          <p:cNvPr id="15" name="Rectangle 14"/>
          <p:cNvSpPr/>
          <p:nvPr/>
        </p:nvSpPr>
        <p:spPr>
          <a:xfrm>
            <a:off x="4050525" y="2741720"/>
            <a:ext cx="72651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 smtClean="0"/>
              <a:t>Pour appeler cette procédure, on peut écrire: CALL  </a:t>
            </a:r>
            <a:r>
              <a:rPr lang="fr-FR" dirty="0" err="1" smtClean="0"/>
              <a:t>nomclient</a:t>
            </a:r>
            <a:r>
              <a:rPr lang="fr-FR" dirty="0" smtClean="0"/>
              <a:t>(‘2’);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ype de bois">
  <a:themeElements>
    <a:clrScheme name="Type de bois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Type de bois">
      <a:majorFont>
        <a:latin typeface="Rockwell Condensed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ype de bois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TM03090434[[fn=Type de bois]]</Template>
  <TotalTime>3914</TotalTime>
  <Words>642</Words>
  <Application>Microsoft Office PowerPoint</Application>
  <PresentationFormat>Personnalisé</PresentationFormat>
  <Paragraphs>94</Paragraphs>
  <Slides>18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19" baseType="lpstr">
      <vt:lpstr>Type de bois</vt:lpstr>
      <vt:lpstr>Jointures sous SQL</vt:lpstr>
      <vt:lpstr>REQUETE MULTI-TABLES</vt:lpstr>
      <vt:lpstr>INNER JOIN</vt:lpstr>
      <vt:lpstr>INNER JOIN</vt:lpstr>
      <vt:lpstr>Left join</vt:lpstr>
      <vt:lpstr>Left join</vt:lpstr>
      <vt:lpstr>Left join(sans intersection)</vt:lpstr>
      <vt:lpstr>SQL Sous-requête </vt:lpstr>
      <vt:lpstr>SQL Sous-requête</vt:lpstr>
      <vt:lpstr>VUE en sql</vt:lpstr>
      <vt:lpstr>Creation de vue en sql</vt:lpstr>
      <vt:lpstr>Suppression de vue en sql</vt:lpstr>
      <vt:lpstr>Utilisateurs et les privilèges  </vt:lpstr>
      <vt:lpstr>Création d’utilisateur  </vt:lpstr>
      <vt:lpstr>Attribution de privilèges   </vt:lpstr>
      <vt:lpstr>SUPPRESSION de privilèges et Utilisateur   </vt:lpstr>
      <vt:lpstr>Procédure stockée    </vt:lpstr>
      <vt:lpstr>Procédure stockée    </vt:lpstr>
    </vt:vector>
  </TitlesOfParts>
  <Company>Cirad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Genie Logiciel</dc:title>
  <dc:creator>Jerome Queste</dc:creator>
  <cp:lastModifiedBy>E</cp:lastModifiedBy>
  <cp:revision>370</cp:revision>
  <dcterms:created xsi:type="dcterms:W3CDTF">2016-09-07T16:54:49Z</dcterms:created>
  <dcterms:modified xsi:type="dcterms:W3CDTF">2022-02-18T14:33:09Z</dcterms:modified>
</cp:coreProperties>
</file>